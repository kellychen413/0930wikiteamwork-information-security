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1BD22D-D795-46E6-B946-892FE6D357D9}" type="datetimeFigureOut">
              <a:rPr lang="zh-TW" altLang="en-US" smtClean="0"/>
              <a:t>2026/9/30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709A68-60C0-42A2-9A53-A515F81B13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0560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開場：我們拿到的是一張對應表，但主管真正想知道的是：哪個最危險、先做什麼？這份報告就是為了回答這兩個問題。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709A68-60C0-42A2-9A53-A515F81B1377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03534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原本的 </a:t>
            </a:r>
            <a:r>
              <a:rPr lang="en-US" altLang="zh-TW"/>
              <a:t>Excel </a:t>
            </a:r>
            <a:r>
              <a:rPr lang="zh-TW" altLang="en-US"/>
              <a:t>只說明每個情境是什麼。報告進一步回答三個問題：有多危險、為什麼、先做什麼。這就是整份設計的核心概念：把對應表變成決策工具。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709A68-60C0-42A2-9A53-A515F81B1377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20701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整體設計歸納成六個理念，接下來逐一說明。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709A68-60C0-42A2-9A53-A515F81B1377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60521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報告分三層。第一層風險概況，給管理層 </a:t>
            </a:r>
            <a:r>
              <a:rPr lang="en-US" altLang="zh-TW"/>
              <a:t>30 </a:t>
            </a:r>
            <a:r>
              <a:rPr lang="zh-TW" altLang="en-US"/>
              <a:t>秒看懂整體狀況；第二層是 </a:t>
            </a:r>
            <a:r>
              <a:rPr lang="en-US" altLang="zh-TW"/>
              <a:t>27 </a:t>
            </a:r>
            <a:r>
              <a:rPr lang="zh-TW" altLang="en-US"/>
              <a:t>張情境卡片，給工程師和承辦人看細節；第三層總結與建議，給決策者決定下一步。主管只要看第一頁，工程師往下看卡片，同一份報告兩種人都能用。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709A68-60C0-42A2-9A53-A515F81B1377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95098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採用資安風險評估常用的可能性乘以衝擊，各 </a:t>
            </a:r>
            <a:r>
              <a:rPr lang="en-US" altLang="zh-TW"/>
              <a:t>1 </a:t>
            </a:r>
            <a:r>
              <a:rPr lang="zh-TW" altLang="en-US"/>
              <a:t>到 </a:t>
            </a:r>
            <a:r>
              <a:rPr lang="en-US" altLang="zh-TW"/>
              <a:t>5 </a:t>
            </a:r>
            <a:r>
              <a:rPr lang="zh-TW" altLang="en-US"/>
              <a:t>分。</a:t>
            </a:r>
            <a:r>
              <a:rPr lang="en-US" altLang="zh-TW"/>
              <a:t>15 </a:t>
            </a:r>
            <a:r>
              <a:rPr lang="zh-TW" altLang="en-US"/>
              <a:t>分以上高風險、</a:t>
            </a:r>
            <a:r>
              <a:rPr lang="en-US" altLang="zh-TW"/>
              <a:t>8 </a:t>
            </a:r>
            <a:r>
              <a:rPr lang="zh-TW" altLang="en-US"/>
              <a:t>到 </a:t>
            </a:r>
            <a:r>
              <a:rPr lang="en-US" altLang="zh-TW"/>
              <a:t>14 </a:t>
            </a:r>
            <a:r>
              <a:rPr lang="zh-TW" altLang="en-US"/>
              <a:t>中風險、</a:t>
            </a:r>
            <a:r>
              <a:rPr lang="en-US" altLang="zh-TW"/>
              <a:t>7 </a:t>
            </a:r>
            <a:r>
              <a:rPr lang="zh-TW" altLang="en-US"/>
              <a:t>分以下低風險。重點是反向思考：主題 </a:t>
            </a:r>
            <a:r>
              <a:rPr lang="en-US" altLang="zh-TW"/>
              <a:t>3</a:t>
            </a:r>
            <a:r>
              <a:rPr lang="zh-TW" altLang="en-US"/>
              <a:t>、</a:t>
            </a:r>
            <a:r>
              <a:rPr lang="en-US" altLang="zh-TW"/>
              <a:t>4 </a:t>
            </a:r>
            <a:r>
              <a:rPr lang="zh-TW" altLang="en-US"/>
              <a:t>是防禦措施，原本無法和攻擊比較；轉換成</a:t>
            </a:r>
            <a:r>
              <a:rPr lang="en-US" altLang="zh-TW"/>
              <a:t>『</a:t>
            </a:r>
            <a:r>
              <a:rPr lang="zh-TW" altLang="en-US"/>
              <a:t>沒做到的代價</a:t>
            </a:r>
            <a:r>
              <a:rPr lang="en-US" altLang="zh-TW"/>
              <a:t>』</a:t>
            </a:r>
            <a:r>
              <a:rPr lang="zh-TW" altLang="en-US"/>
              <a:t>之後，就能放在同一個標準下排序。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709A68-60C0-42A2-9A53-A515F81B1377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77745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顏色只傳達一件事：紅黃綠就是高中低，整份報告看到紅色就是要優先處理的。藍色只用在可以點的地方。另外 </a:t>
            </a:r>
            <a:r>
              <a:rPr lang="en-US" altLang="zh-TW"/>
              <a:t>6 </a:t>
            </a:r>
            <a:r>
              <a:rPr lang="zh-TW" altLang="en-US"/>
              <a:t>個情境附上模擬畫面，例如 </a:t>
            </a:r>
            <a:r>
              <a:rPr lang="en-US" altLang="zh-TW"/>
              <a:t>2-2 </a:t>
            </a:r>
            <a:r>
              <a:rPr lang="zh-TW" altLang="en-US"/>
              <a:t>這封信，寄件網域用大寫 </a:t>
            </a:r>
            <a:r>
              <a:rPr lang="en-US" altLang="zh-TW"/>
              <a:t>I </a:t>
            </a:r>
            <a:r>
              <a:rPr lang="zh-TW" altLang="en-US"/>
              <a:t>冒充小寫 </a:t>
            </a:r>
            <a:r>
              <a:rPr lang="en-US" altLang="zh-TW"/>
              <a:t>l</a:t>
            </a:r>
            <a:r>
              <a:rPr lang="zh-TW" altLang="en-US"/>
              <a:t>，再加上今天下午 </a:t>
            </a:r>
            <a:r>
              <a:rPr lang="en-US" altLang="zh-TW"/>
              <a:t>3 </a:t>
            </a:r>
            <a:r>
              <a:rPr lang="zh-TW" altLang="en-US"/>
              <a:t>點前匯款、請勿來電這些話術。觀眾會直接感受到：原來我也可能被騙。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709A68-60C0-42A2-9A53-A515F81B1377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12301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每張情境卡都有固定結構。重點是第 </a:t>
            </a:r>
            <a:r>
              <a:rPr lang="en-US" altLang="zh-TW"/>
              <a:t>4 </a:t>
            </a:r>
            <a:r>
              <a:rPr lang="zh-TW" altLang="en-US"/>
              <a:t>和第 </a:t>
            </a:r>
            <a:r>
              <a:rPr lang="en-US" altLang="zh-TW"/>
              <a:t>5 </a:t>
            </a:r>
            <a:r>
              <a:rPr lang="zh-TW" altLang="en-US"/>
              <a:t>項：綠框是原表列出的對應防禦，下方條列是補充建議，兩者分開標示。每張卡片也附上關鍵字和教材頁碼，哪些是課程內容、哪些是延伸建議，都清楚可查。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709A68-60C0-42A2-9A53-A515F81B1377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7660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最後把 </a:t>
            </a:r>
            <a:r>
              <a:rPr lang="en-US" altLang="zh-TW"/>
              <a:t>27 </a:t>
            </a:r>
            <a:r>
              <a:rPr lang="zh-TW" altLang="en-US"/>
              <a:t>個情境歸納成六大風險主軸，再排成三階段路線：立即止血，先關掉最危險的入口；</a:t>
            </a:r>
            <a:r>
              <a:rPr lang="en-US" altLang="zh-TW"/>
              <a:t>1 </a:t>
            </a:r>
            <a:r>
              <a:rPr lang="zh-TW" altLang="en-US"/>
              <a:t>到 </a:t>
            </a:r>
            <a:r>
              <a:rPr lang="en-US" altLang="zh-TW"/>
              <a:t>3 </a:t>
            </a:r>
            <a:r>
              <a:rPr lang="zh-TW" altLang="en-US"/>
              <a:t>個月補強加密與邊界防護；</a:t>
            </a:r>
            <a:r>
              <a:rPr lang="en-US" altLang="zh-TW"/>
              <a:t>3 </a:t>
            </a:r>
            <a:r>
              <a:rPr lang="zh-TW" altLang="en-US"/>
              <a:t>到 </a:t>
            </a:r>
            <a:r>
              <a:rPr lang="en-US" altLang="zh-TW"/>
              <a:t>6 </a:t>
            </a:r>
            <a:r>
              <a:rPr lang="zh-TW" altLang="en-US"/>
              <a:t>個月把組織、流程、訓練制度化。報告的終點是行動清單，不只是風險清單。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709A68-60C0-42A2-9A53-A515F81B1377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45029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/>
              <a:t>27 </a:t>
            </a:r>
            <a:r>
              <a:rPr lang="zh-TW" altLang="en-US"/>
              <a:t>個情境中有 </a:t>
            </a:r>
            <a:r>
              <a:rPr lang="en-US" altLang="zh-TW"/>
              <a:t>18 </a:t>
            </a:r>
            <a:r>
              <a:rPr lang="zh-TW" altLang="en-US"/>
              <a:t>個是高風險，約三分之二。最高分 </a:t>
            </a:r>
            <a:r>
              <a:rPr lang="en-US" altLang="zh-TW"/>
              <a:t>25 </a:t>
            </a:r>
            <a:r>
              <a:rPr lang="zh-TW" altLang="en-US"/>
              <a:t>分的是 </a:t>
            </a:r>
            <a:r>
              <a:rPr lang="en-US" altLang="zh-TW"/>
              <a:t>1-7 RDP </a:t>
            </a:r>
            <a:r>
              <a:rPr lang="zh-TW" altLang="en-US"/>
              <a:t>對外開放、</a:t>
            </a:r>
            <a:r>
              <a:rPr lang="en-US" altLang="zh-TW"/>
              <a:t>2-2 </a:t>
            </a:r>
            <a:r>
              <a:rPr lang="zh-TW" altLang="en-US"/>
              <a:t>郵件詐騙匯款 </a:t>
            </a:r>
            <a:r>
              <a:rPr lang="en-US" altLang="zh-TW"/>
              <a:t>300 </a:t>
            </a:r>
            <a:r>
              <a:rPr lang="zh-TW" altLang="en-US"/>
              <a:t>萬。風險集中在三個面向：傳輸沒加密、帳號只靠密碼、人員容易被社交工程欺騙。已經造成實際損失的情境都源自人，光靠技術防護不夠。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709A68-60C0-42A2-9A53-A515F81B1377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92532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/>
              <a:t>Demo</a:t>
            </a:r>
            <a:r>
              <a:rPr lang="zh-TW" altLang="en-US"/>
              <a:t>：</a:t>
            </a:r>
            <a:r>
              <a:rPr lang="en-US" altLang="zh-TW"/>
              <a:t>1. </a:t>
            </a:r>
            <a:r>
              <a:rPr lang="zh-TW" altLang="en-US"/>
              <a:t>打開網頁，指出 </a:t>
            </a:r>
            <a:r>
              <a:rPr lang="en-US" altLang="zh-TW"/>
              <a:t>KPI 18 </a:t>
            </a:r>
            <a:r>
              <a:rPr lang="zh-TW" altLang="en-US"/>
              <a:t>個高風險。</a:t>
            </a:r>
            <a:r>
              <a:rPr lang="en-US" altLang="zh-TW"/>
              <a:t>2. </a:t>
            </a:r>
            <a:r>
              <a:rPr lang="zh-TW" altLang="en-US"/>
              <a:t>指風險矩陣右上角，點 </a:t>
            </a:r>
            <a:r>
              <a:rPr lang="en-US" altLang="zh-TW"/>
              <a:t>2-2 </a:t>
            </a:r>
            <a:r>
              <a:rPr lang="zh-TW" altLang="en-US"/>
              <a:t>跳到卡片，展示仿冒郵件。</a:t>
            </a:r>
            <a:r>
              <a:rPr lang="en-US" altLang="zh-TW"/>
              <a:t>3. </a:t>
            </a:r>
            <a:r>
              <a:rPr lang="zh-TW" altLang="en-US"/>
              <a:t>篩選</a:t>
            </a:r>
            <a:r>
              <a:rPr lang="en-US" altLang="zh-TW"/>
              <a:t>『</a:t>
            </a:r>
            <a:r>
              <a:rPr lang="zh-TW" altLang="en-US"/>
              <a:t>高</a:t>
            </a:r>
            <a:r>
              <a:rPr lang="en-US" altLang="zh-TW"/>
              <a:t>』</a:t>
            </a:r>
            <a:r>
              <a:rPr lang="zh-TW" altLang="en-US"/>
              <a:t>或搜尋</a:t>
            </a:r>
            <a:r>
              <a:rPr lang="en-US" altLang="zh-TW"/>
              <a:t>『MFA』</a:t>
            </a:r>
            <a:r>
              <a:rPr lang="zh-TW" altLang="en-US"/>
              <a:t>。</a:t>
            </a:r>
            <a:r>
              <a:rPr lang="en-US" altLang="zh-TW"/>
              <a:t>4. </a:t>
            </a:r>
            <a:r>
              <a:rPr lang="zh-TW" altLang="en-US"/>
              <a:t>捲到路線圖說明三階段。提醒：同時開好線上網址和本機檔案，網路有問題時直接切換本機檔。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709A68-60C0-42A2-9A53-A515F81B1377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60839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結論：先關入口、再加密、後制度化。人的問題要靠流程和演練，不能只靠工具。接下來開放提問。常見問題：分數怎麼來的？依情境描述判斷，是評估起點，實際導入要依組織現況校準。為什麼 </a:t>
            </a:r>
            <a:r>
              <a:rPr lang="en-US" altLang="zh-TW"/>
              <a:t>1-3 </a:t>
            </a:r>
            <a:r>
              <a:rPr lang="zh-TW" altLang="en-US"/>
              <a:t>是低風險？它是改善中的措施，但一週過渡期仍是明文。為什麼不用測驗？測驗檢驗個人知識，這份報告支援組織決策。為什麼做成單一 </a:t>
            </a:r>
            <a:r>
              <a:rPr lang="en-US" altLang="zh-TW"/>
              <a:t>HTML</a:t>
            </a:r>
            <a:r>
              <a:rPr lang="zh-TW" altLang="en-US"/>
              <a:t>？不用安裝、可離線、手機可看、分享方便。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709A68-60C0-42A2-9A53-A515F81B1377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39725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9CA86C-DD13-3960-35BE-B9B779964A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369AABC-F697-A06B-06C3-5C52B68D65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338F85D-75A9-9431-FFE1-C51998EB6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0F6D0-0B72-42AE-A844-83F7F836B4BC}" type="datetimeFigureOut">
              <a:rPr lang="zh-TW" altLang="en-US" smtClean="0"/>
              <a:t>2026/9/30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18EB91F-322E-BBE4-EE9F-C41861128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B2F0541-F163-B452-7D9A-2F7C0E746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26DF6-D5C8-4E6D-A137-8948C57B102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9863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E8B74EB-6A48-D8E8-DC5A-65057010B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1B77591-A35B-689A-F376-3B50271FB5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2B7B990-A9E9-F431-4D8A-2F3701089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0F6D0-0B72-42AE-A844-83F7F836B4BC}" type="datetimeFigureOut">
              <a:rPr lang="zh-TW" altLang="en-US" smtClean="0"/>
              <a:t>2026/9/30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7B16940-8040-F6F1-8871-01359308E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070DAA6-F3E1-D0C5-A70A-58BA58C10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26DF6-D5C8-4E6D-A137-8948C57B102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142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47FD6D-F351-C63F-BFD4-F2B465EDD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D3EE65A-6F14-E94B-5761-6D33951E55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7235BAD-4D35-9F1E-A877-5D4C68EDB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0F6D0-0B72-42AE-A844-83F7F836B4BC}" type="datetimeFigureOut">
              <a:rPr lang="zh-TW" altLang="en-US" smtClean="0"/>
              <a:t>2026/9/30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23932AC-9A17-4156-9033-677C542A0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3747D2A-CB55-AEE7-7633-878798309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26DF6-D5C8-4E6D-A137-8948C57B102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0356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E79718-6A50-0BE8-AF4E-42448A3A1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D198FA9-80EB-841B-5739-3A19283FB2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BFBE3E1-B9C2-BD75-4D01-2F769CB4C3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389122C-E223-B41F-7080-EC2B8BF33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0F6D0-0B72-42AE-A844-83F7F836B4BC}" type="datetimeFigureOut">
              <a:rPr lang="zh-TW" altLang="en-US" smtClean="0"/>
              <a:t>2026/9/30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871BA66-C3DE-609E-7C16-DE01B37EB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DA33AEF-14E1-D44C-943B-879C5340F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26DF6-D5C8-4E6D-A137-8948C57B102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9282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9BD8F38-6D55-1564-9479-07705D2FE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6EB261B-8984-CC4A-7B73-A6633D1410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736C911-9A27-CBE5-B76F-CDE8E35712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E09D5728-7FD3-BFB1-4351-7642C46390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5B1550D-1FD1-5A33-69D7-42B754BABD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E86F0D61-3B29-8704-F2E2-0BFBC1DAD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0F6D0-0B72-42AE-A844-83F7F836B4BC}" type="datetimeFigureOut">
              <a:rPr lang="zh-TW" altLang="en-US" smtClean="0"/>
              <a:t>2026/9/30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7B4AD08B-2193-90A0-69C7-D2B8D0840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5B8F578-1C8F-FB1A-F104-318C085E2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26DF6-D5C8-4E6D-A137-8948C57B102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5026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413D2E-88A1-BC49-F849-33DBDA0A5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B57D715-E70B-C638-83F2-4F1571725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0F6D0-0B72-42AE-A844-83F7F836B4BC}" type="datetimeFigureOut">
              <a:rPr lang="zh-TW" altLang="en-US" smtClean="0"/>
              <a:t>2026/9/30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DE4ED06-5718-25B9-DE83-0281E77C7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BDD0A93-61EA-5DF3-5D62-D6D293B66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26DF6-D5C8-4E6D-A137-8948C57B102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6555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A463316-8371-D097-7D0B-A5849B073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0F6D0-0B72-42AE-A844-83F7F836B4BC}" type="datetimeFigureOut">
              <a:rPr lang="zh-TW" altLang="en-US" smtClean="0"/>
              <a:t>2026/9/30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B54C549-22D8-3C41-2E02-61D56F5EA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6C7CF74-402E-EFB6-84D6-37338F597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26DF6-D5C8-4E6D-A137-8948C57B102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699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C528C2-6B2D-3900-D88B-A26576DDE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B59C525-A1E5-A910-0B70-D75CE7EAE2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3C630D0-C6A9-DD2A-EE4D-E0B8A81DA3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B0C3791-9F9D-7F65-1804-57FD2E58C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0F6D0-0B72-42AE-A844-83F7F836B4BC}" type="datetimeFigureOut">
              <a:rPr lang="zh-TW" altLang="en-US" smtClean="0"/>
              <a:t>2026/9/30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7E506DD-582E-73C6-7041-B3575DBDC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CE673AD-B373-B28F-9837-3D702B6E2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26DF6-D5C8-4E6D-A137-8948C57B102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5324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F015DF-B7C8-00FC-D43F-2B2C20037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CC4B1A26-5E0B-A000-380C-CF1EE2180C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5B8F26C-1429-13A9-358E-CB5121EB20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A64BA71-8422-A64F-4D79-ED807A9CE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0F6D0-0B72-42AE-A844-83F7F836B4BC}" type="datetimeFigureOut">
              <a:rPr lang="zh-TW" altLang="en-US" smtClean="0"/>
              <a:t>2026/9/30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9E421BF-8F6B-9FB0-2A5F-70905DF85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E6FAAA9-81EF-1C23-E477-6B6A44A6A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26DF6-D5C8-4E6D-A137-8948C57B102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16232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4AC183-7DB5-1D1F-129B-3684690EB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BD804BE-F440-7526-6190-791DD005B4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00834BE-6727-20A4-AFA9-5A6DFE15B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0F6D0-0B72-42AE-A844-83F7F836B4BC}" type="datetimeFigureOut">
              <a:rPr lang="zh-TW" altLang="en-US" smtClean="0"/>
              <a:t>2026/9/30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D5FF4CE-8AF2-04D4-4CDE-2011A3D20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90A0C32-E74D-F452-1DA2-1513D0272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26DF6-D5C8-4E6D-A137-8948C57B102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9738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F6E4D514-D740-1847-92BD-5424B27251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8AF99F3-15A8-CA76-2C91-6C135C13E6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5DA4836-93A1-F445-1F00-47E508135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0F6D0-0B72-42AE-A844-83F7F836B4BC}" type="datetimeFigureOut">
              <a:rPr lang="zh-TW" altLang="en-US" smtClean="0"/>
              <a:t>2026/9/30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432BB96-6BB0-0E89-4B51-84E99F366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439D068-6B74-B240-E9C6-BC5E8730D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26DF6-D5C8-4E6D-A137-8948C57B102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576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869CE7F-1F0F-B292-AEB1-3D84F1AFD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F77830F-6104-DCAA-E147-F4F0CEB81E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2937B23-20AE-2FFB-1AB5-545AF0BB19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A0F6D0-0B72-42AE-A844-83F7F836B4BC}" type="datetimeFigureOut">
              <a:rPr lang="zh-TW" altLang="en-US" smtClean="0"/>
              <a:t>2026/9/30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1B4F2C1-2672-152F-5F5D-B5709BB931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9FDCA7A-A639-3FA4-FFD1-158C6FEC15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C26DF6-D5C8-4E6D-A137-8948C57B102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9659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D5219F16-1FD3-8A31-74D4-426C6F3105CC}"/>
              </a:ext>
            </a:extLst>
          </p:cNvPr>
          <p:cNvSpPr txBox="1"/>
          <p:nvPr/>
        </p:nvSpPr>
        <p:spPr>
          <a:xfrm>
            <a:off x="762000" y="1905000"/>
            <a:ext cx="660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zh-TW" sz="1200" b="1" spc="300">
                <a:solidFill>
                  <a:srgbClr val="93C5F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RISK ASSESSMENT REPORT</a:t>
            </a:r>
            <a:endParaRPr lang="zh-TW" altLang="en-US" sz="1200" b="1" spc="300">
              <a:solidFill>
                <a:srgbClr val="93C5FD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1D166EBD-328A-FC1E-F9E7-B50CA2663CE9}"/>
              </a:ext>
            </a:extLst>
          </p:cNvPr>
          <p:cNvSpPr txBox="1"/>
          <p:nvPr/>
        </p:nvSpPr>
        <p:spPr>
          <a:xfrm>
            <a:off x="762000" y="2235200"/>
            <a:ext cx="711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zh-TW" altLang="en-US" sz="4000" b="1">
                <a:solidFill>
                  <a:srgbClr val="E2E8F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資安情境風險分析報告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0835C0D-6D0A-A7ED-6E92-3CF6A9B990E2}"/>
              </a:ext>
            </a:extLst>
          </p:cNvPr>
          <p:cNvSpPr txBox="1"/>
          <p:nvPr/>
        </p:nvSpPr>
        <p:spPr>
          <a:xfrm>
            <a:off x="762000" y="3124200"/>
            <a:ext cx="711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zh-TW" altLang="en-US" sz="2000" b="1">
                <a:solidFill>
                  <a:srgbClr val="93C5F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設計理念：把「對應表」變成「決策工具」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767D457A-9CDB-988A-973B-D80B12220442}"/>
              </a:ext>
            </a:extLst>
          </p:cNvPr>
          <p:cNvSpPr/>
          <p:nvPr/>
        </p:nvSpPr>
        <p:spPr>
          <a:xfrm>
            <a:off x="762000" y="4191000"/>
            <a:ext cx="1727200" cy="812800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12700">
            <a:solidFill>
              <a:srgbClr val="2637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681EDA7-8136-DDC0-D414-82967AA98C51}"/>
              </a:ext>
            </a:extLst>
          </p:cNvPr>
          <p:cNvSpPr txBox="1"/>
          <p:nvPr/>
        </p:nvSpPr>
        <p:spPr>
          <a:xfrm>
            <a:off x="965200" y="4318000"/>
            <a:ext cx="139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zh-TW" sz="2200" b="1">
                <a:solidFill>
                  <a:srgbClr val="E2E8F0"/>
                </a:solidFill>
                <a:latin typeface="Consolas" panose="020B0609020204030204" pitchFamily="49" charset="0"/>
                <a:ea typeface="Microsoft JhengHei" panose="020B0604030504040204" pitchFamily="34" charset="-120"/>
              </a:rPr>
              <a:t>27</a:t>
            </a:r>
          </a:p>
          <a:p>
            <a:pPr>
              <a:lnSpc>
                <a:spcPct val="110000"/>
              </a:lnSpc>
            </a:pPr>
            <a:r>
              <a:rPr lang="zh-TW" altLang="en-US" sz="1200">
                <a:solidFill>
                  <a:srgbClr val="94A3B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個情境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14FC863A-5EC8-0B24-34B8-62E60DA13358}"/>
              </a:ext>
            </a:extLst>
          </p:cNvPr>
          <p:cNvSpPr/>
          <p:nvPr/>
        </p:nvSpPr>
        <p:spPr>
          <a:xfrm>
            <a:off x="2667000" y="4191000"/>
            <a:ext cx="1727200" cy="812800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12700">
            <a:solidFill>
              <a:srgbClr val="2637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71CFC015-6BA0-3844-462A-4D4BC2166E14}"/>
              </a:ext>
            </a:extLst>
          </p:cNvPr>
          <p:cNvSpPr txBox="1"/>
          <p:nvPr/>
        </p:nvSpPr>
        <p:spPr>
          <a:xfrm>
            <a:off x="2870200" y="4318000"/>
            <a:ext cx="139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zh-TW" sz="2200" b="1">
                <a:solidFill>
                  <a:srgbClr val="E2E8F0"/>
                </a:solidFill>
                <a:latin typeface="Consolas" panose="020B0609020204030204" pitchFamily="49" charset="0"/>
                <a:ea typeface="Microsoft JhengHei" panose="020B0604030504040204" pitchFamily="34" charset="-120"/>
              </a:rPr>
              <a:t>4</a:t>
            </a:r>
          </a:p>
          <a:p>
            <a:pPr>
              <a:lnSpc>
                <a:spcPct val="110000"/>
              </a:lnSpc>
            </a:pPr>
            <a:r>
              <a:rPr lang="zh-TW" altLang="en-US" sz="1200">
                <a:solidFill>
                  <a:srgbClr val="94A3B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大主題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1700B716-12CF-8E3A-582E-9185298D3033}"/>
              </a:ext>
            </a:extLst>
          </p:cNvPr>
          <p:cNvSpPr/>
          <p:nvPr/>
        </p:nvSpPr>
        <p:spPr>
          <a:xfrm>
            <a:off x="4572000" y="4191000"/>
            <a:ext cx="1727200" cy="812800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12700">
            <a:solidFill>
              <a:srgbClr val="2637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BD8E9F31-C170-EF2D-2331-3C754E03ADC0}"/>
              </a:ext>
            </a:extLst>
          </p:cNvPr>
          <p:cNvSpPr txBox="1"/>
          <p:nvPr/>
        </p:nvSpPr>
        <p:spPr>
          <a:xfrm>
            <a:off x="4775200" y="4318000"/>
            <a:ext cx="139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zh-TW" sz="2200" b="1">
                <a:solidFill>
                  <a:srgbClr val="EF4444"/>
                </a:solidFill>
                <a:latin typeface="Consolas" panose="020B0609020204030204" pitchFamily="49" charset="0"/>
                <a:ea typeface="Microsoft JhengHei" panose="020B0604030504040204" pitchFamily="34" charset="-120"/>
              </a:rPr>
              <a:t>18</a:t>
            </a:r>
          </a:p>
          <a:p>
            <a:pPr>
              <a:lnSpc>
                <a:spcPct val="110000"/>
              </a:lnSpc>
            </a:pPr>
            <a:r>
              <a:rPr lang="zh-TW" altLang="en-US" sz="1200">
                <a:solidFill>
                  <a:srgbClr val="94A3B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個高風險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7367B3C6-0AFE-8D9F-5E73-21F536035F22}"/>
              </a:ext>
            </a:extLst>
          </p:cNvPr>
          <p:cNvSpPr/>
          <p:nvPr/>
        </p:nvSpPr>
        <p:spPr>
          <a:xfrm>
            <a:off x="8382000" y="1651000"/>
            <a:ext cx="584200" cy="584200"/>
          </a:xfrm>
          <a:prstGeom prst="roundRect">
            <a:avLst>
              <a:gd name="adj" fmla="val 12000"/>
            </a:avLst>
          </a:prstGeom>
          <a:solidFill>
            <a:srgbClr val="10B981">
              <a:alpha val="40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0CECF3EA-89B4-FF95-6F70-2721FE392CBB}"/>
              </a:ext>
            </a:extLst>
          </p:cNvPr>
          <p:cNvSpPr/>
          <p:nvPr/>
        </p:nvSpPr>
        <p:spPr>
          <a:xfrm>
            <a:off x="9017000" y="1651000"/>
            <a:ext cx="584200" cy="584200"/>
          </a:xfrm>
          <a:prstGeom prst="roundRect">
            <a:avLst>
              <a:gd name="adj" fmla="val 12000"/>
            </a:avLst>
          </a:prstGeom>
          <a:solidFill>
            <a:srgbClr val="F59E0B">
              <a:alpha val="40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8CDB6655-2727-B1F7-DBA7-5219B28419D7}"/>
              </a:ext>
            </a:extLst>
          </p:cNvPr>
          <p:cNvSpPr/>
          <p:nvPr/>
        </p:nvSpPr>
        <p:spPr>
          <a:xfrm>
            <a:off x="9652000" y="1651000"/>
            <a:ext cx="584200" cy="584200"/>
          </a:xfrm>
          <a:prstGeom prst="roundRect">
            <a:avLst>
              <a:gd name="adj" fmla="val 12000"/>
            </a:avLst>
          </a:prstGeom>
          <a:solidFill>
            <a:srgbClr val="EF4444">
              <a:alpha val="75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4F80EF98-FD93-5B2B-E201-2CEA184FB443}"/>
              </a:ext>
            </a:extLst>
          </p:cNvPr>
          <p:cNvSpPr/>
          <p:nvPr/>
        </p:nvSpPr>
        <p:spPr>
          <a:xfrm>
            <a:off x="10287000" y="1651000"/>
            <a:ext cx="584200" cy="584200"/>
          </a:xfrm>
          <a:prstGeom prst="roundRect">
            <a:avLst>
              <a:gd name="adj" fmla="val 12000"/>
            </a:avLst>
          </a:prstGeom>
          <a:solidFill>
            <a:srgbClr val="EF4444">
              <a:alpha val="75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97097C2C-E82E-F22B-96D8-77B86B3F3E30}"/>
              </a:ext>
            </a:extLst>
          </p:cNvPr>
          <p:cNvSpPr/>
          <p:nvPr/>
        </p:nvSpPr>
        <p:spPr>
          <a:xfrm>
            <a:off x="10922000" y="1651000"/>
            <a:ext cx="584200" cy="584200"/>
          </a:xfrm>
          <a:prstGeom prst="roundRect">
            <a:avLst>
              <a:gd name="adj" fmla="val 12000"/>
            </a:avLst>
          </a:prstGeom>
          <a:solidFill>
            <a:srgbClr val="EF4444">
              <a:alpha val="75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103C0299-A1A2-778E-B372-9BDB8D3C0254}"/>
              </a:ext>
            </a:extLst>
          </p:cNvPr>
          <p:cNvSpPr/>
          <p:nvPr/>
        </p:nvSpPr>
        <p:spPr>
          <a:xfrm>
            <a:off x="8382000" y="2286000"/>
            <a:ext cx="584200" cy="584200"/>
          </a:xfrm>
          <a:prstGeom prst="roundRect">
            <a:avLst>
              <a:gd name="adj" fmla="val 12000"/>
            </a:avLst>
          </a:prstGeom>
          <a:solidFill>
            <a:srgbClr val="10B981">
              <a:alpha val="30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F8736A68-61D4-5203-C6DC-7165204926A1}"/>
              </a:ext>
            </a:extLst>
          </p:cNvPr>
          <p:cNvSpPr/>
          <p:nvPr/>
        </p:nvSpPr>
        <p:spPr>
          <a:xfrm>
            <a:off x="9017000" y="2286000"/>
            <a:ext cx="584200" cy="584200"/>
          </a:xfrm>
          <a:prstGeom prst="roundRect">
            <a:avLst>
              <a:gd name="adj" fmla="val 12000"/>
            </a:avLst>
          </a:prstGeom>
          <a:solidFill>
            <a:srgbClr val="F59E0B">
              <a:alpha val="30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90E30FC2-4784-D99B-2774-AA630F3F6C70}"/>
              </a:ext>
            </a:extLst>
          </p:cNvPr>
          <p:cNvSpPr/>
          <p:nvPr/>
        </p:nvSpPr>
        <p:spPr>
          <a:xfrm>
            <a:off x="9652000" y="2286000"/>
            <a:ext cx="584200" cy="584200"/>
          </a:xfrm>
          <a:prstGeom prst="roundRect">
            <a:avLst>
              <a:gd name="adj" fmla="val 12000"/>
            </a:avLst>
          </a:prstGeom>
          <a:solidFill>
            <a:srgbClr val="F59E0B">
              <a:alpha val="30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EA0F02F7-5712-A391-CBFF-1515F58FF520}"/>
              </a:ext>
            </a:extLst>
          </p:cNvPr>
          <p:cNvSpPr/>
          <p:nvPr/>
        </p:nvSpPr>
        <p:spPr>
          <a:xfrm>
            <a:off x="10287000" y="2286000"/>
            <a:ext cx="584200" cy="584200"/>
          </a:xfrm>
          <a:prstGeom prst="roundRect">
            <a:avLst>
              <a:gd name="adj" fmla="val 12000"/>
            </a:avLst>
          </a:prstGeom>
          <a:solidFill>
            <a:srgbClr val="EF4444">
              <a:alpha val="65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0A972106-5FF4-E667-A103-5567B7826A73}"/>
              </a:ext>
            </a:extLst>
          </p:cNvPr>
          <p:cNvSpPr/>
          <p:nvPr/>
        </p:nvSpPr>
        <p:spPr>
          <a:xfrm>
            <a:off x="10922000" y="2286000"/>
            <a:ext cx="584200" cy="584200"/>
          </a:xfrm>
          <a:prstGeom prst="roundRect">
            <a:avLst>
              <a:gd name="adj" fmla="val 12000"/>
            </a:avLst>
          </a:prstGeom>
          <a:solidFill>
            <a:srgbClr val="EF4444">
              <a:alpha val="75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67027CE8-4ABF-DDAA-D67E-D41D4C4DFD0E}"/>
              </a:ext>
            </a:extLst>
          </p:cNvPr>
          <p:cNvSpPr/>
          <p:nvPr/>
        </p:nvSpPr>
        <p:spPr>
          <a:xfrm>
            <a:off x="8382000" y="2921000"/>
            <a:ext cx="584200" cy="584200"/>
          </a:xfrm>
          <a:prstGeom prst="roundRect">
            <a:avLst>
              <a:gd name="adj" fmla="val 12000"/>
            </a:avLst>
          </a:prstGeom>
          <a:solidFill>
            <a:srgbClr val="10B981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60E7FFC8-1B97-E5EE-F812-EE526CF4ED93}"/>
              </a:ext>
            </a:extLst>
          </p:cNvPr>
          <p:cNvSpPr/>
          <p:nvPr/>
        </p:nvSpPr>
        <p:spPr>
          <a:xfrm>
            <a:off x="9017000" y="2921000"/>
            <a:ext cx="584200" cy="584200"/>
          </a:xfrm>
          <a:prstGeom prst="roundRect">
            <a:avLst>
              <a:gd name="adj" fmla="val 12000"/>
            </a:avLst>
          </a:prstGeom>
          <a:solidFill>
            <a:srgbClr val="10B981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E22BDBD8-46E2-57B3-92FE-BC9ACC32E453}"/>
              </a:ext>
            </a:extLst>
          </p:cNvPr>
          <p:cNvSpPr/>
          <p:nvPr/>
        </p:nvSpPr>
        <p:spPr>
          <a:xfrm>
            <a:off x="9652000" y="2921000"/>
            <a:ext cx="584200" cy="584200"/>
          </a:xfrm>
          <a:prstGeom prst="roundRect">
            <a:avLst>
              <a:gd name="adj" fmla="val 12000"/>
            </a:avLst>
          </a:prstGeom>
          <a:solidFill>
            <a:srgbClr val="F59E0B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6EC86433-0C46-2EB6-2F2E-E4239B538A7A}"/>
              </a:ext>
            </a:extLst>
          </p:cNvPr>
          <p:cNvSpPr/>
          <p:nvPr/>
        </p:nvSpPr>
        <p:spPr>
          <a:xfrm>
            <a:off x="10287000" y="2921000"/>
            <a:ext cx="584200" cy="584200"/>
          </a:xfrm>
          <a:prstGeom prst="roundRect">
            <a:avLst>
              <a:gd name="adj" fmla="val 12000"/>
            </a:avLst>
          </a:prstGeom>
          <a:solidFill>
            <a:srgbClr val="F59E0B">
              <a:alpha val="30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4566CA6F-05EA-16F4-DB80-54EE87E91E80}"/>
              </a:ext>
            </a:extLst>
          </p:cNvPr>
          <p:cNvSpPr/>
          <p:nvPr/>
        </p:nvSpPr>
        <p:spPr>
          <a:xfrm>
            <a:off x="10922000" y="2921000"/>
            <a:ext cx="584200" cy="584200"/>
          </a:xfrm>
          <a:prstGeom prst="roundRect">
            <a:avLst>
              <a:gd name="adj" fmla="val 12000"/>
            </a:avLst>
          </a:prstGeom>
          <a:solidFill>
            <a:srgbClr val="EF4444">
              <a:alpha val="75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74693161-EE4B-E51A-05D6-D7B887D2004E}"/>
              </a:ext>
            </a:extLst>
          </p:cNvPr>
          <p:cNvSpPr/>
          <p:nvPr/>
        </p:nvSpPr>
        <p:spPr>
          <a:xfrm>
            <a:off x="8382000" y="3556000"/>
            <a:ext cx="584200" cy="584200"/>
          </a:xfrm>
          <a:prstGeom prst="roundRect">
            <a:avLst>
              <a:gd name="adj" fmla="val 12000"/>
            </a:avLst>
          </a:prstGeom>
          <a:solidFill>
            <a:srgbClr val="10B981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矩形: 圓角 26">
            <a:extLst>
              <a:ext uri="{FF2B5EF4-FFF2-40B4-BE49-F238E27FC236}">
                <a16:creationId xmlns:a16="http://schemas.microsoft.com/office/drawing/2014/main" id="{2DCB7833-08E4-DF75-25E4-00810F70B701}"/>
              </a:ext>
            </a:extLst>
          </p:cNvPr>
          <p:cNvSpPr/>
          <p:nvPr/>
        </p:nvSpPr>
        <p:spPr>
          <a:xfrm>
            <a:off x="9017000" y="3556000"/>
            <a:ext cx="584200" cy="584200"/>
          </a:xfrm>
          <a:prstGeom prst="roundRect">
            <a:avLst>
              <a:gd name="adj" fmla="val 12000"/>
            </a:avLst>
          </a:prstGeom>
          <a:solidFill>
            <a:srgbClr val="10B981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C4960A2B-EDDB-D8E4-A51B-36FD50E82178}"/>
              </a:ext>
            </a:extLst>
          </p:cNvPr>
          <p:cNvSpPr/>
          <p:nvPr/>
        </p:nvSpPr>
        <p:spPr>
          <a:xfrm>
            <a:off x="9652000" y="3556000"/>
            <a:ext cx="584200" cy="584200"/>
          </a:xfrm>
          <a:prstGeom prst="roundRect">
            <a:avLst>
              <a:gd name="adj" fmla="val 12000"/>
            </a:avLst>
          </a:prstGeom>
          <a:solidFill>
            <a:srgbClr val="10B981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536B3BC5-6514-51B0-07C6-9BAC11BBF1BB}"/>
              </a:ext>
            </a:extLst>
          </p:cNvPr>
          <p:cNvSpPr/>
          <p:nvPr/>
        </p:nvSpPr>
        <p:spPr>
          <a:xfrm>
            <a:off x="10287000" y="3556000"/>
            <a:ext cx="584200" cy="584200"/>
          </a:xfrm>
          <a:prstGeom prst="roundRect">
            <a:avLst>
              <a:gd name="adj" fmla="val 12000"/>
            </a:avLst>
          </a:prstGeom>
          <a:solidFill>
            <a:srgbClr val="F59E0B">
              <a:alpha val="30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矩形: 圓角 29">
            <a:extLst>
              <a:ext uri="{FF2B5EF4-FFF2-40B4-BE49-F238E27FC236}">
                <a16:creationId xmlns:a16="http://schemas.microsoft.com/office/drawing/2014/main" id="{952A399B-9F2C-5DA7-FF37-3D381AA8A53F}"/>
              </a:ext>
            </a:extLst>
          </p:cNvPr>
          <p:cNvSpPr/>
          <p:nvPr/>
        </p:nvSpPr>
        <p:spPr>
          <a:xfrm>
            <a:off x="10922000" y="3556000"/>
            <a:ext cx="584200" cy="584200"/>
          </a:xfrm>
          <a:prstGeom prst="roundRect">
            <a:avLst>
              <a:gd name="adj" fmla="val 12000"/>
            </a:avLst>
          </a:prstGeom>
          <a:solidFill>
            <a:srgbClr val="F59E0B">
              <a:alpha val="40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矩形: 圓角 30">
            <a:extLst>
              <a:ext uri="{FF2B5EF4-FFF2-40B4-BE49-F238E27FC236}">
                <a16:creationId xmlns:a16="http://schemas.microsoft.com/office/drawing/2014/main" id="{B6802C76-2957-6EA9-47D9-164361889ACB}"/>
              </a:ext>
            </a:extLst>
          </p:cNvPr>
          <p:cNvSpPr/>
          <p:nvPr/>
        </p:nvSpPr>
        <p:spPr>
          <a:xfrm>
            <a:off x="8382000" y="4191000"/>
            <a:ext cx="584200" cy="584200"/>
          </a:xfrm>
          <a:prstGeom prst="roundRect">
            <a:avLst>
              <a:gd name="adj" fmla="val 12000"/>
            </a:avLst>
          </a:prstGeom>
          <a:solidFill>
            <a:srgbClr val="10B981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矩形: 圓角 31">
            <a:extLst>
              <a:ext uri="{FF2B5EF4-FFF2-40B4-BE49-F238E27FC236}">
                <a16:creationId xmlns:a16="http://schemas.microsoft.com/office/drawing/2014/main" id="{5E46FCA9-900F-51FB-F84D-C8D013F2C20C}"/>
              </a:ext>
            </a:extLst>
          </p:cNvPr>
          <p:cNvSpPr/>
          <p:nvPr/>
        </p:nvSpPr>
        <p:spPr>
          <a:xfrm>
            <a:off x="9017000" y="4191000"/>
            <a:ext cx="584200" cy="584200"/>
          </a:xfrm>
          <a:prstGeom prst="roundRect">
            <a:avLst>
              <a:gd name="adj" fmla="val 12000"/>
            </a:avLst>
          </a:prstGeom>
          <a:solidFill>
            <a:srgbClr val="10B981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矩形: 圓角 32">
            <a:extLst>
              <a:ext uri="{FF2B5EF4-FFF2-40B4-BE49-F238E27FC236}">
                <a16:creationId xmlns:a16="http://schemas.microsoft.com/office/drawing/2014/main" id="{D8144BBE-ECEF-ECD8-B42E-770EBC7C6569}"/>
              </a:ext>
            </a:extLst>
          </p:cNvPr>
          <p:cNvSpPr/>
          <p:nvPr/>
        </p:nvSpPr>
        <p:spPr>
          <a:xfrm>
            <a:off x="9652000" y="4191000"/>
            <a:ext cx="584200" cy="584200"/>
          </a:xfrm>
          <a:prstGeom prst="roundRect">
            <a:avLst>
              <a:gd name="adj" fmla="val 12000"/>
            </a:avLst>
          </a:prstGeom>
          <a:solidFill>
            <a:srgbClr val="10B981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A366FC14-56A7-96C0-36FB-ED2A2A891532}"/>
              </a:ext>
            </a:extLst>
          </p:cNvPr>
          <p:cNvSpPr/>
          <p:nvPr/>
        </p:nvSpPr>
        <p:spPr>
          <a:xfrm>
            <a:off x="10287000" y="4191000"/>
            <a:ext cx="584200" cy="584200"/>
          </a:xfrm>
          <a:prstGeom prst="roundRect">
            <a:avLst>
              <a:gd name="adj" fmla="val 12000"/>
            </a:avLst>
          </a:prstGeom>
          <a:solidFill>
            <a:srgbClr val="10B981">
              <a:alpha val="30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矩形: 圓角 34">
            <a:extLst>
              <a:ext uri="{FF2B5EF4-FFF2-40B4-BE49-F238E27FC236}">
                <a16:creationId xmlns:a16="http://schemas.microsoft.com/office/drawing/2014/main" id="{B7DB2EF2-68AC-7D98-1B40-E1BA555228A8}"/>
              </a:ext>
            </a:extLst>
          </p:cNvPr>
          <p:cNvSpPr/>
          <p:nvPr/>
        </p:nvSpPr>
        <p:spPr>
          <a:xfrm>
            <a:off x="10922000" y="4191000"/>
            <a:ext cx="584200" cy="584200"/>
          </a:xfrm>
          <a:prstGeom prst="roundRect">
            <a:avLst>
              <a:gd name="adj" fmla="val 12000"/>
            </a:avLst>
          </a:prstGeom>
          <a:solidFill>
            <a:srgbClr val="10B981">
              <a:alpha val="40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B21925B3-1E22-5CAD-96B0-D0223994E29E}"/>
              </a:ext>
            </a:extLst>
          </p:cNvPr>
          <p:cNvSpPr txBox="1"/>
          <p:nvPr/>
        </p:nvSpPr>
        <p:spPr>
          <a:xfrm>
            <a:off x="8382000" y="4953000"/>
            <a:ext cx="3124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0000"/>
              </a:lnSpc>
            </a:pPr>
            <a:r>
              <a:rPr lang="zh-TW" altLang="en-US" sz="1000">
                <a:solidFill>
                  <a:srgbClr val="94A3B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可能性 </a:t>
            </a:r>
            <a:r>
              <a:rPr lang="en-US" altLang="zh-TW" sz="1000">
                <a:solidFill>
                  <a:srgbClr val="94A3B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× </a:t>
            </a:r>
            <a:r>
              <a:rPr lang="zh-TW" altLang="en-US" sz="1000">
                <a:solidFill>
                  <a:srgbClr val="94A3B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衝擊</a:t>
            </a: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835921C6-7EC4-3956-BB47-F3F7875760F5}"/>
              </a:ext>
            </a:extLst>
          </p:cNvPr>
          <p:cNvSpPr txBox="1"/>
          <p:nvPr/>
        </p:nvSpPr>
        <p:spPr>
          <a:xfrm>
            <a:off x="762000" y="5969000"/>
            <a:ext cx="762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ja-JP" sz="1100">
                <a:solidFill>
                  <a:srgbClr val="94A3B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2026-09-30 </a:t>
            </a:r>
            <a:r>
              <a:rPr lang="ja-JP" altLang="en-US" sz="1100">
                <a:solidFill>
                  <a:srgbClr val="94A3B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・ 資安情境演練專題</a:t>
            </a:r>
            <a:endParaRPr lang="zh-TW" altLang="en-US" sz="1100">
              <a:solidFill>
                <a:srgbClr val="94A3B8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25526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85E0D915-D4C4-225F-17E0-01C0CD26F194}"/>
              </a:ext>
            </a:extLst>
          </p:cNvPr>
          <p:cNvSpPr txBox="1"/>
          <p:nvPr/>
        </p:nvSpPr>
        <p:spPr>
          <a:xfrm>
            <a:off x="609600" y="4064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zh-TW" sz="1100" b="1" spc="200">
                <a:solidFill>
                  <a:srgbClr val="93C5F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WHY</a:t>
            </a:r>
            <a:endParaRPr lang="zh-TW" altLang="en-US" sz="1100" b="1" spc="200">
              <a:solidFill>
                <a:srgbClr val="93C5FD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A381B4A-B389-A690-5D9F-00E8B991151B}"/>
              </a:ext>
            </a:extLst>
          </p:cNvPr>
          <p:cNvSpPr txBox="1"/>
          <p:nvPr/>
        </p:nvSpPr>
        <p:spPr>
          <a:xfrm>
            <a:off x="609600" y="685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zh-TW" altLang="en-US" sz="2800" b="1">
                <a:solidFill>
                  <a:srgbClr val="E2E8F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從「對應表」到「決策工具」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77D7B231-84F0-F73B-54C4-7C071CAC3E7A}"/>
              </a:ext>
            </a:extLst>
          </p:cNvPr>
          <p:cNvSpPr/>
          <p:nvPr/>
        </p:nvSpPr>
        <p:spPr>
          <a:xfrm>
            <a:off x="609600" y="1625600"/>
            <a:ext cx="4826000" cy="3810000"/>
          </a:xfrm>
          <a:prstGeom prst="roundRect">
            <a:avLst>
              <a:gd name="adj" fmla="val 5000"/>
            </a:avLst>
          </a:prstGeom>
          <a:solidFill>
            <a:srgbClr val="16213A"/>
          </a:solidFill>
          <a:ln w="12700">
            <a:solidFill>
              <a:srgbClr val="2637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D27F68A-7B68-FA81-A694-04ECE607E552}"/>
              </a:ext>
            </a:extLst>
          </p:cNvPr>
          <p:cNvSpPr txBox="1"/>
          <p:nvPr/>
        </p:nvSpPr>
        <p:spPr>
          <a:xfrm>
            <a:off x="914400" y="1905000"/>
            <a:ext cx="421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zh-TW" altLang="en-US" sz="1400" b="1">
                <a:solidFill>
                  <a:srgbClr val="94A3B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原本：對應表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31CC00A-C8FB-5230-D82D-FF2F604F935F}"/>
              </a:ext>
            </a:extLst>
          </p:cNvPr>
          <p:cNvSpPr txBox="1"/>
          <p:nvPr/>
        </p:nvSpPr>
        <p:spPr>
          <a:xfrm>
            <a:off x="914400" y="2260600"/>
            <a:ext cx="421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zh-TW" altLang="en-US" sz="2200" b="1">
                <a:solidFill>
                  <a:srgbClr val="E2E8F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告訴你「是什麼」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F6E36C4-FA62-B387-B36E-99589D07BB77}"/>
              </a:ext>
            </a:extLst>
          </p:cNvPr>
          <p:cNvSpPr txBox="1"/>
          <p:nvPr/>
        </p:nvSpPr>
        <p:spPr>
          <a:xfrm>
            <a:off x="914400" y="2946400"/>
            <a:ext cx="421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03200" indent="-203200">
              <a:lnSpc>
                <a:spcPct val="110000"/>
              </a:lnSpc>
              <a:spcAft>
                <a:spcPts val="1000"/>
              </a:spcAft>
              <a:buFont typeface="+mj-lt"/>
              <a:buChar char="•"/>
            </a:pPr>
            <a:r>
              <a:rPr lang="zh-TW" altLang="en-US" sz="1400">
                <a:solidFill>
                  <a:srgbClr val="CBD5E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情境 → 協定／威脅／措施</a:t>
            </a:r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Font typeface="+mj-lt"/>
              <a:buChar char="•"/>
            </a:pPr>
            <a:r>
              <a:rPr lang="zh-TW" altLang="en-US" sz="1400">
                <a:solidFill>
                  <a:srgbClr val="CBD5E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關鍵字與教材頁碼</a:t>
            </a:r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Font typeface="+mj-lt"/>
              <a:buChar char="•"/>
            </a:pPr>
            <a:r>
              <a:rPr lang="zh-TW" altLang="en-US" sz="1400">
                <a:solidFill>
                  <a:srgbClr val="CBD5E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對應防禦的一句話說明</a:t>
            </a:r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Font typeface="+mj-lt"/>
              <a:buChar char="•"/>
            </a:pPr>
            <a:r>
              <a:rPr lang="en-US" altLang="zh-TW" sz="1400">
                <a:solidFill>
                  <a:srgbClr val="CBD5E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27 </a:t>
            </a:r>
            <a:r>
              <a:rPr lang="zh-TW" altLang="en-US" sz="1400">
                <a:solidFill>
                  <a:srgbClr val="CBD5E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列資料，沒有輕重之分</a:t>
            </a:r>
          </a:p>
        </p:txBody>
      </p:sp>
      <p:sp>
        <p:nvSpPr>
          <p:cNvPr id="8" name="箭號: 向右 7">
            <a:extLst>
              <a:ext uri="{FF2B5EF4-FFF2-40B4-BE49-F238E27FC236}">
                <a16:creationId xmlns:a16="http://schemas.microsoft.com/office/drawing/2014/main" id="{09B950CF-F225-E590-4A07-E1A479F2F607}"/>
              </a:ext>
            </a:extLst>
          </p:cNvPr>
          <p:cNvSpPr/>
          <p:nvPr/>
        </p:nvSpPr>
        <p:spPr>
          <a:xfrm>
            <a:off x="5638800" y="3251200"/>
            <a:ext cx="711200" cy="558800"/>
          </a:xfrm>
          <a:prstGeom prst="rightArrow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BAEE9C81-5891-2FCE-80FC-E7A6500C34C8}"/>
              </a:ext>
            </a:extLst>
          </p:cNvPr>
          <p:cNvSpPr/>
          <p:nvPr/>
        </p:nvSpPr>
        <p:spPr>
          <a:xfrm>
            <a:off x="6553200" y="1625600"/>
            <a:ext cx="5029200" cy="3810000"/>
          </a:xfrm>
          <a:prstGeom prst="roundRect">
            <a:avLst>
              <a:gd name="adj" fmla="val 5000"/>
            </a:avLst>
          </a:prstGeom>
          <a:solidFill>
            <a:srgbClr val="1C2A47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1C1390BC-0AA3-0CE9-63BE-D4B790FD80D3}"/>
              </a:ext>
            </a:extLst>
          </p:cNvPr>
          <p:cNvSpPr txBox="1"/>
          <p:nvPr/>
        </p:nvSpPr>
        <p:spPr>
          <a:xfrm>
            <a:off x="6858000" y="1905000"/>
            <a:ext cx="441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zh-TW" altLang="en-US" sz="1400" b="1">
                <a:solidFill>
                  <a:srgbClr val="93C5F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現在：風險分析報告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6673180-D6DC-1FD0-CEE7-F506BAE1D091}"/>
              </a:ext>
            </a:extLst>
          </p:cNvPr>
          <p:cNvSpPr txBox="1"/>
          <p:nvPr/>
        </p:nvSpPr>
        <p:spPr>
          <a:xfrm>
            <a:off x="6858000" y="2260600"/>
            <a:ext cx="441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zh-TW" altLang="en-US" sz="2200" b="1">
                <a:solidFill>
                  <a:srgbClr val="E2E8F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幫你決定「怎麼做」</a:t>
            </a: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EF9FCAC5-9626-E248-091B-E002818DE3FC}"/>
              </a:ext>
            </a:extLst>
          </p:cNvPr>
          <p:cNvSpPr/>
          <p:nvPr/>
        </p:nvSpPr>
        <p:spPr>
          <a:xfrm>
            <a:off x="6858000" y="2997200"/>
            <a:ext cx="457200" cy="457200"/>
          </a:xfrm>
          <a:prstGeom prst="ellipse">
            <a:avLst/>
          </a:prstGeom>
          <a:solidFill>
            <a:srgbClr val="EF44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TW" sz="1400" b="1">
                <a:solidFill>
                  <a:srgbClr val="0B1222"/>
                </a:solidFill>
                <a:latin typeface="Consolas" panose="020B0609020204030204" pitchFamily="49" charset="0"/>
              </a:rPr>
              <a:t>1</a:t>
            </a:r>
            <a:endParaRPr lang="zh-TW" altLang="en-US" sz="1400" b="1">
              <a:solidFill>
                <a:srgbClr val="0B1222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A25004A2-15B4-A8EF-67D8-56C849C53BE5}"/>
              </a:ext>
            </a:extLst>
          </p:cNvPr>
          <p:cNvSpPr txBox="1"/>
          <p:nvPr/>
        </p:nvSpPr>
        <p:spPr>
          <a:xfrm>
            <a:off x="7518400" y="29718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zh-TW" altLang="en-US" sz="1600" b="1">
                <a:solidFill>
                  <a:srgbClr val="E2E8F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有多危險？</a:t>
            </a:r>
          </a:p>
          <a:p>
            <a:pPr>
              <a:lnSpc>
                <a:spcPct val="110000"/>
              </a:lnSpc>
            </a:pPr>
            <a:r>
              <a:rPr lang="zh-TW" altLang="en-US" sz="1300">
                <a:solidFill>
                  <a:srgbClr val="CBD5E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可能性 </a:t>
            </a:r>
            <a:r>
              <a:rPr lang="en-US" altLang="zh-TW" sz="1300">
                <a:solidFill>
                  <a:srgbClr val="CBD5E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× </a:t>
            </a:r>
            <a:r>
              <a:rPr lang="zh-TW" altLang="en-US" sz="1300">
                <a:solidFill>
                  <a:srgbClr val="CBD5E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衝擊評分與風險矩陣</a:t>
            </a: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A3084A6B-E933-1A87-3E17-9417C6939066}"/>
              </a:ext>
            </a:extLst>
          </p:cNvPr>
          <p:cNvSpPr/>
          <p:nvPr/>
        </p:nvSpPr>
        <p:spPr>
          <a:xfrm>
            <a:off x="6858000" y="3937000"/>
            <a:ext cx="457200" cy="457200"/>
          </a:xfrm>
          <a:prstGeom prst="ellipse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TW" sz="1400" b="1">
                <a:solidFill>
                  <a:srgbClr val="0B1222"/>
                </a:solidFill>
                <a:latin typeface="Consolas" panose="020B0609020204030204" pitchFamily="49" charset="0"/>
              </a:rPr>
              <a:t>2</a:t>
            </a:r>
            <a:endParaRPr lang="zh-TW" altLang="en-US" sz="1400" b="1">
              <a:solidFill>
                <a:srgbClr val="0B1222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62E5E31B-7EB1-C762-2D7E-A02B4CFE1857}"/>
              </a:ext>
            </a:extLst>
          </p:cNvPr>
          <p:cNvSpPr txBox="1"/>
          <p:nvPr/>
        </p:nvSpPr>
        <p:spPr>
          <a:xfrm>
            <a:off x="7518400" y="39116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zh-TW" altLang="en-US" sz="1600" b="1">
                <a:solidFill>
                  <a:srgbClr val="E2E8F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為什麼？</a:t>
            </a:r>
          </a:p>
          <a:p>
            <a:pPr>
              <a:lnSpc>
                <a:spcPct val="110000"/>
              </a:lnSpc>
            </a:pPr>
            <a:r>
              <a:rPr lang="zh-TW" altLang="en-US" sz="1300">
                <a:solidFill>
                  <a:srgbClr val="CBD5E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逐一情境的風險識別說明</a:t>
            </a: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39710658-4554-17D9-27CA-C020CB3E1235}"/>
              </a:ext>
            </a:extLst>
          </p:cNvPr>
          <p:cNvSpPr/>
          <p:nvPr/>
        </p:nvSpPr>
        <p:spPr>
          <a:xfrm>
            <a:off x="6858000" y="4876800"/>
            <a:ext cx="457200" cy="457200"/>
          </a:xfrm>
          <a:prstGeom prst="ellipse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TW" sz="1400" b="1">
                <a:solidFill>
                  <a:srgbClr val="0B1222"/>
                </a:solidFill>
                <a:latin typeface="Consolas" panose="020B0609020204030204" pitchFamily="49" charset="0"/>
              </a:rPr>
              <a:t>3</a:t>
            </a:r>
            <a:endParaRPr lang="zh-TW" altLang="en-US" sz="1400" b="1">
              <a:solidFill>
                <a:srgbClr val="0B1222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7095B61E-BCA8-2481-8878-9EA9548635D3}"/>
              </a:ext>
            </a:extLst>
          </p:cNvPr>
          <p:cNvSpPr txBox="1"/>
          <p:nvPr/>
        </p:nvSpPr>
        <p:spPr>
          <a:xfrm>
            <a:off x="7518400" y="48514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zh-TW" altLang="en-US" sz="1600" b="1">
                <a:solidFill>
                  <a:srgbClr val="E2E8F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先做什麼？</a:t>
            </a:r>
          </a:p>
          <a:p>
            <a:pPr>
              <a:lnSpc>
                <a:spcPct val="110000"/>
              </a:lnSpc>
            </a:pPr>
            <a:r>
              <a:rPr lang="zh-TW" altLang="en-US" sz="1300">
                <a:solidFill>
                  <a:srgbClr val="CBD5E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六大主軸＋三階段改善路線</a:t>
            </a:r>
          </a:p>
        </p:txBody>
      </p:sp>
    </p:spTree>
    <p:extLst>
      <p:ext uri="{BB962C8B-B14F-4D97-AF65-F5344CB8AC3E}">
        <p14:creationId xmlns:p14="http://schemas.microsoft.com/office/powerpoint/2010/main" val="1905065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B4DB9319-6263-C4C6-8B59-932A600F6C4F}"/>
              </a:ext>
            </a:extLst>
          </p:cNvPr>
          <p:cNvSpPr txBox="1"/>
          <p:nvPr/>
        </p:nvSpPr>
        <p:spPr>
          <a:xfrm>
            <a:off x="609600" y="4064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zh-TW" sz="1100" b="1" spc="200">
                <a:solidFill>
                  <a:srgbClr val="93C5F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DESIGN PRINCIPLES</a:t>
            </a:r>
            <a:endParaRPr lang="zh-TW" altLang="en-US" sz="1100" b="1" spc="200">
              <a:solidFill>
                <a:srgbClr val="93C5FD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902092BC-139F-235C-0E0B-E1EC3C12F43C}"/>
              </a:ext>
            </a:extLst>
          </p:cNvPr>
          <p:cNvSpPr txBox="1"/>
          <p:nvPr/>
        </p:nvSpPr>
        <p:spPr>
          <a:xfrm>
            <a:off x="609600" y="685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zh-TW" altLang="en-US" sz="2800" b="1">
                <a:solidFill>
                  <a:srgbClr val="E2E8F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六大設計理念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CF494649-3B3A-929B-0809-54BBD8BD2A22}"/>
              </a:ext>
            </a:extLst>
          </p:cNvPr>
          <p:cNvSpPr/>
          <p:nvPr/>
        </p:nvSpPr>
        <p:spPr>
          <a:xfrm>
            <a:off x="609600" y="1600200"/>
            <a:ext cx="3454400" cy="2032000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12700">
            <a:solidFill>
              <a:srgbClr val="2637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77880C95-7145-7B51-B381-3B5715CDC6F8}"/>
              </a:ext>
            </a:extLst>
          </p:cNvPr>
          <p:cNvSpPr/>
          <p:nvPr/>
        </p:nvSpPr>
        <p:spPr>
          <a:xfrm>
            <a:off x="863600" y="1854200"/>
            <a:ext cx="508000" cy="508000"/>
          </a:xfrm>
          <a:prstGeom prst="ellipse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TW" sz="1600" b="1">
                <a:solidFill>
                  <a:srgbClr val="FFFFFF"/>
                </a:solidFill>
                <a:latin typeface="Consolas" panose="020B0609020204030204" pitchFamily="49" charset="0"/>
              </a:rPr>
              <a:t>1</a:t>
            </a:r>
            <a:endParaRPr lang="zh-TW" altLang="en-US" sz="1600" b="1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5EC19B9-F48F-5833-43A8-B3EDC54C62E2}"/>
              </a:ext>
            </a:extLst>
          </p:cNvPr>
          <p:cNvSpPr txBox="1"/>
          <p:nvPr/>
        </p:nvSpPr>
        <p:spPr>
          <a:xfrm>
            <a:off x="863600" y="2565400"/>
            <a:ext cx="2997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zh-TW" altLang="en-US" sz="1700" b="1">
                <a:solidFill>
                  <a:srgbClr val="E2E8F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先看全貌，再看細節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D1D718C2-ACBD-B4C2-BB53-70DB4D8F34C3}"/>
              </a:ext>
            </a:extLst>
          </p:cNvPr>
          <p:cNvSpPr txBox="1"/>
          <p:nvPr/>
        </p:nvSpPr>
        <p:spPr>
          <a:xfrm>
            <a:off x="863600" y="2946400"/>
            <a:ext cx="2997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zh-TW" altLang="en-US" sz="1200">
                <a:solidFill>
                  <a:srgbClr val="94A3B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三層架構，主管與工程師各取所需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A6832217-38E7-D359-1F96-C759A7A97A33}"/>
              </a:ext>
            </a:extLst>
          </p:cNvPr>
          <p:cNvSpPr/>
          <p:nvPr/>
        </p:nvSpPr>
        <p:spPr>
          <a:xfrm>
            <a:off x="4368800" y="1600200"/>
            <a:ext cx="3454400" cy="2032000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12700">
            <a:solidFill>
              <a:srgbClr val="2637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7B544B99-6086-90BC-8C33-5E9A2FC93CD7}"/>
              </a:ext>
            </a:extLst>
          </p:cNvPr>
          <p:cNvSpPr/>
          <p:nvPr/>
        </p:nvSpPr>
        <p:spPr>
          <a:xfrm>
            <a:off x="4622800" y="1854200"/>
            <a:ext cx="508000" cy="508000"/>
          </a:xfrm>
          <a:prstGeom prst="ellipse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TW" sz="1600" b="1">
                <a:solidFill>
                  <a:srgbClr val="FFFFFF"/>
                </a:solidFill>
                <a:latin typeface="Consolas" panose="020B0609020204030204" pitchFamily="49" charset="0"/>
              </a:rPr>
              <a:t>2</a:t>
            </a:r>
            <a:endParaRPr lang="zh-TW" altLang="en-US" sz="1600" b="1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1CF564D0-F118-0F84-4EBE-C874EC2ED409}"/>
              </a:ext>
            </a:extLst>
          </p:cNvPr>
          <p:cNvSpPr txBox="1"/>
          <p:nvPr/>
        </p:nvSpPr>
        <p:spPr>
          <a:xfrm>
            <a:off x="4622800" y="2565400"/>
            <a:ext cx="2997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zh-TW" altLang="en-US" sz="1700" b="1">
                <a:solidFill>
                  <a:srgbClr val="E2E8F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用同一把尺量化風險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4C34B790-F9BF-B56F-77E3-2D04EC155A53}"/>
              </a:ext>
            </a:extLst>
          </p:cNvPr>
          <p:cNvSpPr txBox="1"/>
          <p:nvPr/>
        </p:nvSpPr>
        <p:spPr>
          <a:xfrm>
            <a:off x="4622800" y="2946400"/>
            <a:ext cx="2997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zh-TW" altLang="en-US" sz="1200">
                <a:solidFill>
                  <a:srgbClr val="94A3B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可能性 </a:t>
            </a:r>
            <a:r>
              <a:rPr lang="en-US" altLang="zh-TW" sz="1200">
                <a:solidFill>
                  <a:srgbClr val="94A3B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× </a:t>
            </a:r>
            <a:r>
              <a:rPr lang="zh-TW" altLang="en-US" sz="1200">
                <a:solidFill>
                  <a:srgbClr val="94A3B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衝擊，四個主題放進同一張矩陣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7F51FECC-E3E7-D9B4-2633-617FBC2FE5D2}"/>
              </a:ext>
            </a:extLst>
          </p:cNvPr>
          <p:cNvSpPr/>
          <p:nvPr/>
        </p:nvSpPr>
        <p:spPr>
          <a:xfrm>
            <a:off x="8128000" y="1600200"/>
            <a:ext cx="3454400" cy="2032000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12700">
            <a:solidFill>
              <a:srgbClr val="2637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097D275D-FE5E-C4A6-77F4-EA4FD313F13C}"/>
              </a:ext>
            </a:extLst>
          </p:cNvPr>
          <p:cNvSpPr/>
          <p:nvPr/>
        </p:nvSpPr>
        <p:spPr>
          <a:xfrm>
            <a:off x="8382000" y="1854200"/>
            <a:ext cx="508000" cy="508000"/>
          </a:xfrm>
          <a:prstGeom prst="ellipse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TW" sz="1600" b="1">
                <a:solidFill>
                  <a:srgbClr val="FFFFFF"/>
                </a:solidFill>
                <a:latin typeface="Consolas" panose="020B0609020204030204" pitchFamily="49" charset="0"/>
              </a:rPr>
              <a:t>3</a:t>
            </a:r>
            <a:endParaRPr lang="zh-TW" altLang="en-US" sz="1600" b="1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2DD05A69-7FB9-9FE5-879E-23DCE5BBC936}"/>
              </a:ext>
            </a:extLst>
          </p:cNvPr>
          <p:cNvSpPr txBox="1"/>
          <p:nvPr/>
        </p:nvSpPr>
        <p:spPr>
          <a:xfrm>
            <a:off x="8382000" y="2565400"/>
            <a:ext cx="2997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zh-TW" altLang="en-US" sz="1700" b="1">
                <a:solidFill>
                  <a:srgbClr val="E2E8F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顏色就是意義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5E543600-4D6A-49E9-4269-8653394F6424}"/>
              </a:ext>
            </a:extLst>
          </p:cNvPr>
          <p:cNvSpPr txBox="1"/>
          <p:nvPr/>
        </p:nvSpPr>
        <p:spPr>
          <a:xfrm>
            <a:off x="8382000" y="2946400"/>
            <a:ext cx="2997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zh-TW" altLang="en-US" sz="1200">
                <a:solidFill>
                  <a:srgbClr val="94A3B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紅、黃、綠只代表高、中、低，不做裝飾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82E592D7-E40F-D484-1964-AA77856EFF0B}"/>
              </a:ext>
            </a:extLst>
          </p:cNvPr>
          <p:cNvSpPr/>
          <p:nvPr/>
        </p:nvSpPr>
        <p:spPr>
          <a:xfrm>
            <a:off x="609600" y="3886200"/>
            <a:ext cx="3454400" cy="2032000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12700">
            <a:solidFill>
              <a:srgbClr val="2637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6F31B528-DC46-B64D-2D24-11BC5EA21395}"/>
              </a:ext>
            </a:extLst>
          </p:cNvPr>
          <p:cNvSpPr/>
          <p:nvPr/>
        </p:nvSpPr>
        <p:spPr>
          <a:xfrm>
            <a:off x="863600" y="4140200"/>
            <a:ext cx="508000" cy="508000"/>
          </a:xfrm>
          <a:prstGeom prst="ellipse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TW" sz="1600" b="1">
                <a:solidFill>
                  <a:srgbClr val="FFFFFF"/>
                </a:solidFill>
                <a:latin typeface="Consolas" panose="020B0609020204030204" pitchFamily="49" charset="0"/>
              </a:rPr>
              <a:t>4</a:t>
            </a:r>
            <a:endParaRPr lang="zh-TW" altLang="en-US" sz="1600" b="1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112AA6E7-7ECA-F8B7-3775-9A05E320328E}"/>
              </a:ext>
            </a:extLst>
          </p:cNvPr>
          <p:cNvSpPr txBox="1"/>
          <p:nvPr/>
        </p:nvSpPr>
        <p:spPr>
          <a:xfrm>
            <a:off x="863600" y="4851400"/>
            <a:ext cx="2997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zh-TW" altLang="en-US" sz="1700" b="1">
                <a:solidFill>
                  <a:srgbClr val="E2E8F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情境重現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B8DA30E8-9366-7956-E0ED-8D3973E13A7A}"/>
              </a:ext>
            </a:extLst>
          </p:cNvPr>
          <p:cNvSpPr txBox="1"/>
          <p:nvPr/>
        </p:nvSpPr>
        <p:spPr>
          <a:xfrm>
            <a:off x="863600" y="5232400"/>
            <a:ext cx="2997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zh-TW" altLang="en-US" sz="1200">
                <a:solidFill>
                  <a:srgbClr val="94A3B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模擬郵件與系統紀錄，讓威脅看得見</a:t>
            </a: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F3762BA6-28E0-027A-C591-B77A68095C54}"/>
              </a:ext>
            </a:extLst>
          </p:cNvPr>
          <p:cNvSpPr/>
          <p:nvPr/>
        </p:nvSpPr>
        <p:spPr>
          <a:xfrm>
            <a:off x="4368800" y="3886200"/>
            <a:ext cx="3454400" cy="2032000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12700">
            <a:solidFill>
              <a:srgbClr val="2637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1252B6C6-2F6D-60AE-44EB-DA0C785534B5}"/>
              </a:ext>
            </a:extLst>
          </p:cNvPr>
          <p:cNvSpPr/>
          <p:nvPr/>
        </p:nvSpPr>
        <p:spPr>
          <a:xfrm>
            <a:off x="4622800" y="4140200"/>
            <a:ext cx="508000" cy="508000"/>
          </a:xfrm>
          <a:prstGeom prst="ellipse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TW" sz="1600" b="1">
                <a:solidFill>
                  <a:srgbClr val="FFFFFF"/>
                </a:solidFill>
                <a:latin typeface="Consolas" panose="020B0609020204030204" pitchFamily="49" charset="0"/>
              </a:rPr>
              <a:t>5</a:t>
            </a:r>
            <a:endParaRPr lang="zh-TW" altLang="en-US" sz="1600" b="1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FC1A72E2-1B6F-F88F-1FE8-803131CA47F9}"/>
              </a:ext>
            </a:extLst>
          </p:cNvPr>
          <p:cNvSpPr txBox="1"/>
          <p:nvPr/>
        </p:nvSpPr>
        <p:spPr>
          <a:xfrm>
            <a:off x="4622800" y="4851400"/>
            <a:ext cx="2997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zh-TW" altLang="en-US" sz="1700" b="1">
                <a:solidFill>
                  <a:srgbClr val="E2E8F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資料可追溯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7B8E7682-0CF2-3FE9-D78F-3E644AD3886D}"/>
              </a:ext>
            </a:extLst>
          </p:cNvPr>
          <p:cNvSpPr txBox="1"/>
          <p:nvPr/>
        </p:nvSpPr>
        <p:spPr>
          <a:xfrm>
            <a:off x="4622800" y="5232400"/>
            <a:ext cx="2997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zh-TW" altLang="en-US" sz="1200">
                <a:solidFill>
                  <a:srgbClr val="94A3B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原表防禦與補充建議分開標示</a:t>
            </a:r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7480768C-0D4C-C61C-272A-81781E580C99}"/>
              </a:ext>
            </a:extLst>
          </p:cNvPr>
          <p:cNvSpPr/>
          <p:nvPr/>
        </p:nvSpPr>
        <p:spPr>
          <a:xfrm>
            <a:off x="8128000" y="3886200"/>
            <a:ext cx="3454400" cy="2032000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12700">
            <a:solidFill>
              <a:srgbClr val="2637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6A720948-E581-6B5F-33E9-B48F15B3B09D}"/>
              </a:ext>
            </a:extLst>
          </p:cNvPr>
          <p:cNvSpPr/>
          <p:nvPr/>
        </p:nvSpPr>
        <p:spPr>
          <a:xfrm>
            <a:off x="8382000" y="4140200"/>
            <a:ext cx="508000" cy="508000"/>
          </a:xfrm>
          <a:prstGeom prst="ellipse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TW" sz="1600" b="1">
                <a:solidFill>
                  <a:srgbClr val="FFFFFF"/>
                </a:solidFill>
                <a:latin typeface="Consolas" panose="020B0609020204030204" pitchFamily="49" charset="0"/>
              </a:rPr>
              <a:t>6</a:t>
            </a:r>
            <a:endParaRPr lang="zh-TW" altLang="en-US" sz="1600" b="1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99A8D0BA-C290-2102-A9CE-283E8F54DA3D}"/>
              </a:ext>
            </a:extLst>
          </p:cNvPr>
          <p:cNvSpPr txBox="1"/>
          <p:nvPr/>
        </p:nvSpPr>
        <p:spPr>
          <a:xfrm>
            <a:off x="8382000" y="4851400"/>
            <a:ext cx="2997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zh-TW" altLang="en-US" sz="1700" b="1">
                <a:solidFill>
                  <a:srgbClr val="E2E8F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從發現到行動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AE8F2B17-E42E-1E52-E42A-2605A78AB757}"/>
              </a:ext>
            </a:extLst>
          </p:cNvPr>
          <p:cNvSpPr txBox="1"/>
          <p:nvPr/>
        </p:nvSpPr>
        <p:spPr>
          <a:xfrm>
            <a:off x="8382000" y="5232400"/>
            <a:ext cx="2997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zh-TW" altLang="en-US" sz="1200">
                <a:solidFill>
                  <a:srgbClr val="94A3B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六大風險主軸＋三階段改善路線</a:t>
            </a:r>
          </a:p>
        </p:txBody>
      </p:sp>
    </p:spTree>
    <p:extLst>
      <p:ext uri="{BB962C8B-B14F-4D97-AF65-F5344CB8AC3E}">
        <p14:creationId xmlns:p14="http://schemas.microsoft.com/office/powerpoint/2010/main" val="1051188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D38CCD50-9FE3-EF78-B3B6-D9764227F4B5}"/>
              </a:ext>
            </a:extLst>
          </p:cNvPr>
          <p:cNvSpPr txBox="1"/>
          <p:nvPr/>
        </p:nvSpPr>
        <p:spPr>
          <a:xfrm>
            <a:off x="609600" y="4064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zh-TW" sz="1100" b="1" spc="200">
                <a:solidFill>
                  <a:srgbClr val="93C5F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PRINCIPLE 1 / 6</a:t>
            </a:r>
            <a:endParaRPr lang="zh-TW" altLang="en-US" sz="1100" b="1" spc="200">
              <a:solidFill>
                <a:srgbClr val="93C5FD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E505134-7DEA-2AC8-5D10-29EB68305B58}"/>
              </a:ext>
            </a:extLst>
          </p:cNvPr>
          <p:cNvSpPr txBox="1"/>
          <p:nvPr/>
        </p:nvSpPr>
        <p:spPr>
          <a:xfrm>
            <a:off x="609600" y="685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zh-TW" altLang="en-US" sz="2800" b="1">
                <a:solidFill>
                  <a:srgbClr val="E2E8F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先看全貌，再看細節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D5256CD5-3551-A92B-529B-67171C2B068B}"/>
              </a:ext>
            </a:extLst>
          </p:cNvPr>
          <p:cNvSpPr/>
          <p:nvPr/>
        </p:nvSpPr>
        <p:spPr>
          <a:xfrm>
            <a:off x="609600" y="1574800"/>
            <a:ext cx="10972800" cy="1117600"/>
          </a:xfrm>
          <a:prstGeom prst="roundRect">
            <a:avLst>
              <a:gd name="adj" fmla="val 12000"/>
            </a:avLst>
          </a:prstGeom>
          <a:solidFill>
            <a:srgbClr val="16213A"/>
          </a:solidFill>
          <a:ln w="12700">
            <a:solidFill>
              <a:srgbClr val="2637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662E07D0-B036-1F54-3F5D-DCD41A746BE0}"/>
              </a:ext>
            </a:extLst>
          </p:cNvPr>
          <p:cNvSpPr/>
          <p:nvPr/>
        </p:nvSpPr>
        <p:spPr>
          <a:xfrm>
            <a:off x="609600" y="1574800"/>
            <a:ext cx="2794000" cy="1117600"/>
          </a:xfrm>
          <a:prstGeom prst="roundRect">
            <a:avLst>
              <a:gd name="adj" fmla="val 12000"/>
            </a:avLst>
          </a:prstGeom>
          <a:solidFill>
            <a:srgbClr val="1C2A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CEF1DB0-15B0-1802-4309-CFADCDB8FEDC}"/>
              </a:ext>
            </a:extLst>
          </p:cNvPr>
          <p:cNvSpPr txBox="1"/>
          <p:nvPr/>
        </p:nvSpPr>
        <p:spPr>
          <a:xfrm>
            <a:off x="914400" y="18034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zh-TW" sz="1200" b="1">
                <a:solidFill>
                  <a:srgbClr val="93C5FD"/>
                </a:solidFill>
                <a:latin typeface="Consolas" panose="020B0609020204030204" pitchFamily="49" charset="0"/>
                <a:ea typeface="Microsoft JhengHei" panose="020B0604030504040204" pitchFamily="34" charset="-120"/>
              </a:rPr>
              <a:t>01</a:t>
            </a:r>
          </a:p>
          <a:p>
            <a:pPr>
              <a:lnSpc>
                <a:spcPct val="110000"/>
              </a:lnSpc>
            </a:pPr>
            <a:r>
              <a:rPr lang="zh-TW" altLang="en-US" b="1">
                <a:solidFill>
                  <a:srgbClr val="E2E8F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風險概況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86A4BB9-A9DB-704E-2C1F-8550181938CE}"/>
              </a:ext>
            </a:extLst>
          </p:cNvPr>
          <p:cNvSpPr txBox="1"/>
          <p:nvPr/>
        </p:nvSpPr>
        <p:spPr>
          <a:xfrm>
            <a:off x="3708400" y="1981200"/>
            <a:ext cx="419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ja-JP" sz="1500">
                <a:solidFill>
                  <a:srgbClr val="CBD5E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KPI</a:t>
            </a:r>
            <a:r>
              <a:rPr lang="ja-JP" altLang="en-US" sz="1500">
                <a:solidFill>
                  <a:srgbClr val="CBD5E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・風險矩陣・主題分布</a:t>
            </a:r>
            <a:endParaRPr lang="zh-TW" altLang="en-US" sz="1500">
              <a:solidFill>
                <a:srgbClr val="CBD5E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042D5DC-755A-7DDF-CD16-5BBF0A2B5E24}"/>
              </a:ext>
            </a:extLst>
          </p:cNvPr>
          <p:cNvSpPr txBox="1"/>
          <p:nvPr/>
        </p:nvSpPr>
        <p:spPr>
          <a:xfrm>
            <a:off x="8229600" y="18288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zh-TW" altLang="en-US" sz="1600" b="1">
                <a:solidFill>
                  <a:srgbClr val="E2E8F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管理層</a:t>
            </a:r>
          </a:p>
          <a:p>
            <a:pPr>
              <a:lnSpc>
                <a:spcPct val="110000"/>
              </a:lnSpc>
            </a:pPr>
            <a:r>
              <a:rPr lang="en-US" altLang="zh-TW" sz="1300">
                <a:solidFill>
                  <a:srgbClr val="94A3B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30 </a:t>
            </a:r>
            <a:r>
              <a:rPr lang="zh-TW" altLang="en-US" sz="1300">
                <a:solidFill>
                  <a:srgbClr val="94A3B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秒看懂整體狀況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E8E73329-5A08-5F4A-F98A-88FE0A75B8C3}"/>
              </a:ext>
            </a:extLst>
          </p:cNvPr>
          <p:cNvSpPr/>
          <p:nvPr/>
        </p:nvSpPr>
        <p:spPr>
          <a:xfrm>
            <a:off x="609600" y="2895600"/>
            <a:ext cx="10972800" cy="1117600"/>
          </a:xfrm>
          <a:prstGeom prst="roundRect">
            <a:avLst>
              <a:gd name="adj" fmla="val 12000"/>
            </a:avLst>
          </a:prstGeom>
          <a:solidFill>
            <a:srgbClr val="16213A"/>
          </a:solidFill>
          <a:ln w="12700">
            <a:solidFill>
              <a:srgbClr val="2637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A1D0A186-FAC7-82C5-3D46-F8D3A6BB1CB4}"/>
              </a:ext>
            </a:extLst>
          </p:cNvPr>
          <p:cNvSpPr/>
          <p:nvPr/>
        </p:nvSpPr>
        <p:spPr>
          <a:xfrm>
            <a:off x="609600" y="2895600"/>
            <a:ext cx="2794000" cy="1117600"/>
          </a:xfrm>
          <a:prstGeom prst="roundRect">
            <a:avLst>
              <a:gd name="adj" fmla="val 12000"/>
            </a:avLst>
          </a:prstGeom>
          <a:solidFill>
            <a:srgbClr val="1C2A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49A14980-09A5-C7CC-16C9-FC1D75C0CC8F}"/>
              </a:ext>
            </a:extLst>
          </p:cNvPr>
          <p:cNvSpPr txBox="1"/>
          <p:nvPr/>
        </p:nvSpPr>
        <p:spPr>
          <a:xfrm>
            <a:off x="914400" y="31242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zh-TW" sz="1200" b="1">
                <a:solidFill>
                  <a:srgbClr val="93C5FD"/>
                </a:solidFill>
                <a:latin typeface="Consolas" panose="020B0609020204030204" pitchFamily="49" charset="0"/>
                <a:ea typeface="Microsoft JhengHei" panose="020B0604030504040204" pitchFamily="34" charset="-120"/>
              </a:rPr>
              <a:t>02</a:t>
            </a:r>
          </a:p>
          <a:p>
            <a:pPr>
              <a:lnSpc>
                <a:spcPct val="110000"/>
              </a:lnSpc>
            </a:pPr>
            <a:r>
              <a:rPr lang="zh-TW" altLang="en-US" b="1">
                <a:solidFill>
                  <a:srgbClr val="E2E8F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情境分析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F3D59A0A-BF71-89B3-BD1D-D8395C9F1D4A}"/>
              </a:ext>
            </a:extLst>
          </p:cNvPr>
          <p:cNvSpPr txBox="1"/>
          <p:nvPr/>
        </p:nvSpPr>
        <p:spPr>
          <a:xfrm>
            <a:off x="3708400" y="3302000"/>
            <a:ext cx="419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zh-TW" sz="1500">
                <a:solidFill>
                  <a:srgbClr val="CBD5E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27 </a:t>
            </a:r>
            <a:r>
              <a:rPr lang="zh-TW" altLang="en-US" sz="1500">
                <a:solidFill>
                  <a:srgbClr val="CBD5E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張情境卡片，可篩選與搜尋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8DD51D04-3C93-E8CF-AFED-2C7D14DF3C53}"/>
              </a:ext>
            </a:extLst>
          </p:cNvPr>
          <p:cNvSpPr txBox="1"/>
          <p:nvPr/>
        </p:nvSpPr>
        <p:spPr>
          <a:xfrm>
            <a:off x="8229600" y="31496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ja-JP" altLang="en-US" sz="1600" b="1">
                <a:solidFill>
                  <a:srgbClr val="E2E8F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工程師・承辦人</a:t>
            </a:r>
          </a:p>
          <a:p>
            <a:pPr>
              <a:lnSpc>
                <a:spcPct val="110000"/>
              </a:lnSpc>
            </a:pPr>
            <a:r>
              <a:rPr lang="ja-JP" altLang="en-US" sz="1300">
                <a:solidFill>
                  <a:srgbClr val="94A3B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了解細節與做法</a:t>
            </a:r>
            <a:endParaRPr lang="zh-TW" altLang="en-US" sz="1300">
              <a:solidFill>
                <a:srgbClr val="94A3B8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E443000E-B789-07DD-B4BC-5FF74293BB47}"/>
              </a:ext>
            </a:extLst>
          </p:cNvPr>
          <p:cNvSpPr/>
          <p:nvPr/>
        </p:nvSpPr>
        <p:spPr>
          <a:xfrm>
            <a:off x="609600" y="4216400"/>
            <a:ext cx="10972800" cy="1117600"/>
          </a:xfrm>
          <a:prstGeom prst="roundRect">
            <a:avLst>
              <a:gd name="adj" fmla="val 12000"/>
            </a:avLst>
          </a:prstGeom>
          <a:solidFill>
            <a:srgbClr val="16213A"/>
          </a:solidFill>
          <a:ln w="12700">
            <a:solidFill>
              <a:srgbClr val="2637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35D4D1FF-64EB-3624-6B25-0907FA96D3CC}"/>
              </a:ext>
            </a:extLst>
          </p:cNvPr>
          <p:cNvSpPr/>
          <p:nvPr/>
        </p:nvSpPr>
        <p:spPr>
          <a:xfrm>
            <a:off x="609600" y="4216400"/>
            <a:ext cx="2794000" cy="1117600"/>
          </a:xfrm>
          <a:prstGeom prst="roundRect">
            <a:avLst>
              <a:gd name="adj" fmla="val 12000"/>
            </a:avLst>
          </a:prstGeom>
          <a:solidFill>
            <a:srgbClr val="1C2A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2AC2A8AF-C1AD-28AA-DD12-894D55E49B3B}"/>
              </a:ext>
            </a:extLst>
          </p:cNvPr>
          <p:cNvSpPr txBox="1"/>
          <p:nvPr/>
        </p:nvSpPr>
        <p:spPr>
          <a:xfrm>
            <a:off x="914400" y="44450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zh-TW" sz="1200" b="1">
                <a:solidFill>
                  <a:srgbClr val="93C5FD"/>
                </a:solidFill>
                <a:latin typeface="Consolas" panose="020B0609020204030204" pitchFamily="49" charset="0"/>
                <a:ea typeface="Microsoft JhengHei" panose="020B0604030504040204" pitchFamily="34" charset="-120"/>
              </a:rPr>
              <a:t>03</a:t>
            </a:r>
          </a:p>
          <a:p>
            <a:pPr>
              <a:lnSpc>
                <a:spcPct val="110000"/>
              </a:lnSpc>
            </a:pPr>
            <a:r>
              <a:rPr lang="zh-TW" altLang="en-US" b="1">
                <a:solidFill>
                  <a:srgbClr val="E2E8F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總結與建議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41938F6C-48C6-F52A-E8B4-5CF1369AAB30}"/>
              </a:ext>
            </a:extLst>
          </p:cNvPr>
          <p:cNvSpPr txBox="1"/>
          <p:nvPr/>
        </p:nvSpPr>
        <p:spPr>
          <a:xfrm>
            <a:off x="3708400" y="4622800"/>
            <a:ext cx="419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ja-JP" altLang="en-US" sz="1500">
                <a:solidFill>
                  <a:srgbClr val="CBD5E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六大主軸・三階段路線圖</a:t>
            </a:r>
            <a:endParaRPr lang="zh-TW" altLang="en-US" sz="1500">
              <a:solidFill>
                <a:srgbClr val="CBD5E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82EDA2F5-A1F3-9647-3FE5-3E04E7663F6D}"/>
              </a:ext>
            </a:extLst>
          </p:cNvPr>
          <p:cNvSpPr txBox="1"/>
          <p:nvPr/>
        </p:nvSpPr>
        <p:spPr>
          <a:xfrm>
            <a:off x="8229600" y="44704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zh-TW" altLang="en-US" sz="1600" b="1">
                <a:solidFill>
                  <a:srgbClr val="E2E8F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決策者</a:t>
            </a:r>
          </a:p>
          <a:p>
            <a:pPr>
              <a:lnSpc>
                <a:spcPct val="110000"/>
              </a:lnSpc>
            </a:pPr>
            <a:r>
              <a:rPr lang="zh-TW" altLang="en-US" sz="1300">
                <a:solidFill>
                  <a:srgbClr val="94A3B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決定下一步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1DE475F2-1F9A-0B3C-8E8D-FAC166FD564C}"/>
              </a:ext>
            </a:extLst>
          </p:cNvPr>
          <p:cNvSpPr txBox="1"/>
          <p:nvPr/>
        </p:nvSpPr>
        <p:spPr>
          <a:xfrm>
            <a:off x="609600" y="57150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zh-TW" altLang="en-US" sz="1500">
                <a:solidFill>
                  <a:srgbClr val="93C5F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「主管看第一頁，工程師看卡片，同一份報告兩種人都能用。」</a:t>
            </a:r>
          </a:p>
        </p:txBody>
      </p:sp>
    </p:spTree>
    <p:extLst>
      <p:ext uri="{BB962C8B-B14F-4D97-AF65-F5344CB8AC3E}">
        <p14:creationId xmlns:p14="http://schemas.microsoft.com/office/powerpoint/2010/main" val="2683601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215C8F7F-14FF-4CF2-7592-4B1F9170874C}"/>
              </a:ext>
            </a:extLst>
          </p:cNvPr>
          <p:cNvSpPr txBox="1"/>
          <p:nvPr/>
        </p:nvSpPr>
        <p:spPr>
          <a:xfrm>
            <a:off x="609600" y="4064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zh-TW" sz="1100" b="1" spc="200">
                <a:solidFill>
                  <a:srgbClr val="93C5F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PRINCIPLE 2 / 6</a:t>
            </a:r>
            <a:endParaRPr lang="zh-TW" altLang="en-US" sz="1100" b="1" spc="200">
              <a:solidFill>
                <a:srgbClr val="93C5FD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A5A92A08-058C-6B95-1B17-803E660E4416}"/>
              </a:ext>
            </a:extLst>
          </p:cNvPr>
          <p:cNvSpPr txBox="1"/>
          <p:nvPr/>
        </p:nvSpPr>
        <p:spPr>
          <a:xfrm>
            <a:off x="609600" y="685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zh-TW" altLang="en-US" sz="2800" b="1">
                <a:solidFill>
                  <a:srgbClr val="E2E8F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用同一把尺量化風險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DC3EA48-E956-8284-C8B2-7A5D933E1C78}"/>
              </a:ext>
            </a:extLst>
          </p:cNvPr>
          <p:cNvSpPr txBox="1"/>
          <p:nvPr/>
        </p:nvSpPr>
        <p:spPr>
          <a:xfrm>
            <a:off x="609600" y="13716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zh-TW" altLang="en-US" sz="1000" b="1">
                <a:solidFill>
                  <a:srgbClr val="94A3B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衝擊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1612255-8002-6AFC-6113-50BB451F3BAD}"/>
              </a:ext>
            </a:extLst>
          </p:cNvPr>
          <p:cNvSpPr txBox="1"/>
          <p:nvPr/>
        </p:nvSpPr>
        <p:spPr>
          <a:xfrm>
            <a:off x="736600" y="1854200"/>
            <a:ext cx="25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US" altLang="zh-TW" sz="1100">
                <a:solidFill>
                  <a:srgbClr val="94A3B8"/>
                </a:solidFill>
                <a:latin typeface="Consolas" panose="020B0609020204030204" pitchFamily="49" charset="0"/>
              </a:rPr>
              <a:t>5</a:t>
            </a:r>
            <a:endParaRPr lang="zh-TW" altLang="en-US" sz="1100">
              <a:solidFill>
                <a:srgbClr val="94A3B8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ECD2E6A7-9297-3438-9A69-5274C2613115}"/>
              </a:ext>
            </a:extLst>
          </p:cNvPr>
          <p:cNvSpPr/>
          <p:nvPr/>
        </p:nvSpPr>
        <p:spPr>
          <a:xfrm>
            <a:off x="1066800" y="1574800"/>
            <a:ext cx="914400" cy="762000"/>
          </a:xfrm>
          <a:prstGeom prst="roundRect">
            <a:avLst>
              <a:gd name="adj" fmla="val 10000"/>
            </a:avLst>
          </a:prstGeom>
          <a:solidFill>
            <a:srgbClr val="10B981">
              <a:alpha val="45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73AD6CE2-C343-A825-594C-EC1581C892D4}"/>
              </a:ext>
            </a:extLst>
          </p:cNvPr>
          <p:cNvSpPr/>
          <p:nvPr/>
        </p:nvSpPr>
        <p:spPr>
          <a:xfrm>
            <a:off x="2032000" y="1574800"/>
            <a:ext cx="914400" cy="762000"/>
          </a:xfrm>
          <a:prstGeom prst="roundRect">
            <a:avLst>
              <a:gd name="adj" fmla="val 10000"/>
            </a:avLst>
          </a:prstGeom>
          <a:solidFill>
            <a:srgbClr val="F59E0B">
              <a:alpha val="45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F03D344A-B45D-1593-D52D-05E66014A601}"/>
              </a:ext>
            </a:extLst>
          </p:cNvPr>
          <p:cNvSpPr/>
          <p:nvPr/>
        </p:nvSpPr>
        <p:spPr>
          <a:xfrm>
            <a:off x="2997200" y="1574800"/>
            <a:ext cx="914400" cy="762000"/>
          </a:xfrm>
          <a:prstGeom prst="roundRect">
            <a:avLst>
              <a:gd name="adj" fmla="val 10000"/>
            </a:avLst>
          </a:prstGeom>
          <a:solidFill>
            <a:srgbClr val="EF4444">
              <a:alpha val="45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AADB82F4-171B-B188-DDC3-B8AE827D121F}"/>
              </a:ext>
            </a:extLst>
          </p:cNvPr>
          <p:cNvSpPr txBox="1"/>
          <p:nvPr/>
        </p:nvSpPr>
        <p:spPr>
          <a:xfrm>
            <a:off x="3048000" y="1638300"/>
            <a:ext cx="81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zh-TW" sz="900" b="1">
                <a:solidFill>
                  <a:srgbClr val="FFFFFF"/>
                </a:solidFill>
                <a:latin typeface="Consolas" panose="020B0609020204030204" pitchFamily="49" charset="0"/>
              </a:rPr>
              <a:t>2-3 2-5 3-4 4-3 4-9</a:t>
            </a:r>
            <a:endParaRPr lang="zh-TW" altLang="en-US" sz="900" b="1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64423CA8-6CF1-8B66-5730-4BC7B212378F}"/>
              </a:ext>
            </a:extLst>
          </p:cNvPr>
          <p:cNvSpPr/>
          <p:nvPr/>
        </p:nvSpPr>
        <p:spPr>
          <a:xfrm>
            <a:off x="3962400" y="1574800"/>
            <a:ext cx="914400" cy="762000"/>
          </a:xfrm>
          <a:prstGeom prst="roundRect">
            <a:avLst>
              <a:gd name="adj" fmla="val 10000"/>
            </a:avLst>
          </a:prstGeom>
          <a:solidFill>
            <a:srgbClr val="EF4444">
              <a:alpha val="45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AF6FC8D4-8C0B-3F92-7ADF-0BD2839964C9}"/>
              </a:ext>
            </a:extLst>
          </p:cNvPr>
          <p:cNvSpPr txBox="1"/>
          <p:nvPr/>
        </p:nvSpPr>
        <p:spPr>
          <a:xfrm>
            <a:off x="4013200" y="1638300"/>
            <a:ext cx="81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zh-TW" sz="900" b="1">
                <a:solidFill>
                  <a:srgbClr val="FFFFFF"/>
                </a:solidFill>
                <a:latin typeface="Consolas" panose="020B0609020204030204" pitchFamily="49" charset="0"/>
              </a:rPr>
              <a:t>1-6 2-1 3-2 3-5 4-8</a:t>
            </a:r>
            <a:endParaRPr lang="zh-TW" altLang="en-US" sz="900" b="1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7B1BB522-8639-7EAF-AD1E-3A2060920BB8}"/>
              </a:ext>
            </a:extLst>
          </p:cNvPr>
          <p:cNvSpPr/>
          <p:nvPr/>
        </p:nvSpPr>
        <p:spPr>
          <a:xfrm>
            <a:off x="4927600" y="1574800"/>
            <a:ext cx="914400" cy="762000"/>
          </a:xfrm>
          <a:prstGeom prst="roundRect">
            <a:avLst>
              <a:gd name="adj" fmla="val 10000"/>
            </a:avLst>
          </a:prstGeom>
          <a:solidFill>
            <a:srgbClr val="EF4444">
              <a:alpha val="45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363DB2BB-9347-44ED-EAD9-E9E434FBF6EE}"/>
              </a:ext>
            </a:extLst>
          </p:cNvPr>
          <p:cNvSpPr txBox="1"/>
          <p:nvPr/>
        </p:nvSpPr>
        <p:spPr>
          <a:xfrm>
            <a:off x="4978400" y="1638300"/>
            <a:ext cx="81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zh-TW" sz="900" b="1">
                <a:solidFill>
                  <a:srgbClr val="FFFFFF"/>
                </a:solidFill>
                <a:latin typeface="Consolas" panose="020B0609020204030204" pitchFamily="49" charset="0"/>
              </a:rPr>
              <a:t>1-7 2-2</a:t>
            </a:r>
            <a:endParaRPr lang="zh-TW" altLang="en-US" sz="900" b="1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86EE21EB-1762-96DB-06F3-C7EF4693EB67}"/>
              </a:ext>
            </a:extLst>
          </p:cNvPr>
          <p:cNvSpPr txBox="1"/>
          <p:nvPr/>
        </p:nvSpPr>
        <p:spPr>
          <a:xfrm>
            <a:off x="736600" y="2667000"/>
            <a:ext cx="25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US" altLang="zh-TW" sz="1100">
                <a:solidFill>
                  <a:srgbClr val="94A3B8"/>
                </a:solidFill>
                <a:latin typeface="Consolas" panose="020B0609020204030204" pitchFamily="49" charset="0"/>
              </a:rPr>
              <a:t>4</a:t>
            </a:r>
            <a:endParaRPr lang="zh-TW" altLang="en-US" sz="1100">
              <a:solidFill>
                <a:srgbClr val="94A3B8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41F56B53-05EB-8C18-E25E-032186FAF5EF}"/>
              </a:ext>
            </a:extLst>
          </p:cNvPr>
          <p:cNvSpPr/>
          <p:nvPr/>
        </p:nvSpPr>
        <p:spPr>
          <a:xfrm>
            <a:off x="1066800" y="2387600"/>
            <a:ext cx="914400" cy="762000"/>
          </a:xfrm>
          <a:prstGeom prst="roundRect">
            <a:avLst>
              <a:gd name="adj" fmla="val 10000"/>
            </a:avLst>
          </a:prstGeom>
          <a:solidFill>
            <a:srgbClr val="10B981">
              <a:alpha val="45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EF36D911-AC90-1A23-C8C1-2EB2F6DA0E6F}"/>
              </a:ext>
            </a:extLst>
          </p:cNvPr>
          <p:cNvSpPr/>
          <p:nvPr/>
        </p:nvSpPr>
        <p:spPr>
          <a:xfrm>
            <a:off x="2032000" y="2387600"/>
            <a:ext cx="914400" cy="762000"/>
          </a:xfrm>
          <a:prstGeom prst="roundRect">
            <a:avLst>
              <a:gd name="adj" fmla="val 10000"/>
            </a:avLst>
          </a:prstGeom>
          <a:solidFill>
            <a:srgbClr val="F59E0B">
              <a:alpha val="45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43E264A6-AC98-FA60-C899-8F05C5B9B203}"/>
              </a:ext>
            </a:extLst>
          </p:cNvPr>
          <p:cNvSpPr/>
          <p:nvPr/>
        </p:nvSpPr>
        <p:spPr>
          <a:xfrm>
            <a:off x="2997200" y="2387600"/>
            <a:ext cx="914400" cy="762000"/>
          </a:xfrm>
          <a:prstGeom prst="roundRect">
            <a:avLst>
              <a:gd name="adj" fmla="val 10000"/>
            </a:avLst>
          </a:prstGeom>
          <a:solidFill>
            <a:srgbClr val="F59E0B">
              <a:alpha val="45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8ED3A3AD-A099-8528-9D7A-2C97E72FEF26}"/>
              </a:ext>
            </a:extLst>
          </p:cNvPr>
          <p:cNvSpPr txBox="1"/>
          <p:nvPr/>
        </p:nvSpPr>
        <p:spPr>
          <a:xfrm>
            <a:off x="3048000" y="2451100"/>
            <a:ext cx="81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zh-TW" sz="900" b="1">
                <a:solidFill>
                  <a:srgbClr val="FFFFFF"/>
                </a:solidFill>
                <a:latin typeface="Consolas" panose="020B0609020204030204" pitchFamily="49" charset="0"/>
              </a:rPr>
              <a:t>3-1 3-3 3-6 4-1</a:t>
            </a:r>
            <a:endParaRPr lang="zh-TW" altLang="en-US" sz="900" b="1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BCC7A8C9-4E38-C711-7105-9DF8B83955E7}"/>
              </a:ext>
            </a:extLst>
          </p:cNvPr>
          <p:cNvSpPr/>
          <p:nvPr/>
        </p:nvSpPr>
        <p:spPr>
          <a:xfrm>
            <a:off x="3962400" y="2387600"/>
            <a:ext cx="914400" cy="762000"/>
          </a:xfrm>
          <a:prstGeom prst="roundRect">
            <a:avLst>
              <a:gd name="adj" fmla="val 10000"/>
            </a:avLst>
          </a:prstGeom>
          <a:solidFill>
            <a:srgbClr val="EF4444">
              <a:alpha val="45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1B043AB9-9C9C-3F1D-38E2-FCEB8B2DAAA5}"/>
              </a:ext>
            </a:extLst>
          </p:cNvPr>
          <p:cNvSpPr txBox="1"/>
          <p:nvPr/>
        </p:nvSpPr>
        <p:spPr>
          <a:xfrm>
            <a:off x="4013200" y="2451100"/>
            <a:ext cx="81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zh-TW" sz="900" b="1">
                <a:solidFill>
                  <a:srgbClr val="FFFFFF"/>
                </a:solidFill>
                <a:latin typeface="Consolas" panose="020B0609020204030204" pitchFamily="49" charset="0"/>
              </a:rPr>
              <a:t>1-2 2-4 4-5 4-6</a:t>
            </a:r>
            <a:endParaRPr lang="zh-TW" altLang="en-US" sz="900" b="1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EDE2BAA6-3C7D-3B20-0D1A-D48FC2FD3CC5}"/>
              </a:ext>
            </a:extLst>
          </p:cNvPr>
          <p:cNvSpPr/>
          <p:nvPr/>
        </p:nvSpPr>
        <p:spPr>
          <a:xfrm>
            <a:off x="4927600" y="2387600"/>
            <a:ext cx="914400" cy="762000"/>
          </a:xfrm>
          <a:prstGeom prst="roundRect">
            <a:avLst>
              <a:gd name="adj" fmla="val 10000"/>
            </a:avLst>
          </a:prstGeom>
          <a:solidFill>
            <a:srgbClr val="EF4444">
              <a:alpha val="45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3F72C9C9-736F-BAF7-221D-4D718497CA56}"/>
              </a:ext>
            </a:extLst>
          </p:cNvPr>
          <p:cNvSpPr txBox="1"/>
          <p:nvPr/>
        </p:nvSpPr>
        <p:spPr>
          <a:xfrm>
            <a:off x="4978400" y="2451100"/>
            <a:ext cx="81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zh-TW" sz="900" b="1">
                <a:solidFill>
                  <a:srgbClr val="FFFFFF"/>
                </a:solidFill>
                <a:latin typeface="Consolas" panose="020B0609020204030204" pitchFamily="49" charset="0"/>
              </a:rPr>
              <a:t>4-4 4-7</a:t>
            </a:r>
            <a:endParaRPr lang="zh-TW" altLang="en-US" sz="900" b="1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E05400D7-F3C9-F7F8-69C5-E8FB95D03F2A}"/>
              </a:ext>
            </a:extLst>
          </p:cNvPr>
          <p:cNvSpPr txBox="1"/>
          <p:nvPr/>
        </p:nvSpPr>
        <p:spPr>
          <a:xfrm>
            <a:off x="736600" y="3479800"/>
            <a:ext cx="25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US" altLang="zh-TW" sz="1100">
                <a:solidFill>
                  <a:srgbClr val="94A3B8"/>
                </a:solidFill>
                <a:latin typeface="Consolas" panose="020B0609020204030204" pitchFamily="49" charset="0"/>
              </a:rPr>
              <a:t>3</a:t>
            </a:r>
            <a:endParaRPr lang="zh-TW" altLang="en-US" sz="1100">
              <a:solidFill>
                <a:srgbClr val="94A3B8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6D93A9B7-AB38-3AE3-795F-7C908CFD4984}"/>
              </a:ext>
            </a:extLst>
          </p:cNvPr>
          <p:cNvSpPr/>
          <p:nvPr/>
        </p:nvSpPr>
        <p:spPr>
          <a:xfrm>
            <a:off x="1066800" y="3200400"/>
            <a:ext cx="914400" cy="762000"/>
          </a:xfrm>
          <a:prstGeom prst="roundRect">
            <a:avLst>
              <a:gd name="adj" fmla="val 10000"/>
            </a:avLst>
          </a:prstGeom>
          <a:solidFill>
            <a:srgbClr val="10B981">
              <a:alpha val="45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F1DD4ABA-49E6-2334-3088-E50B3457F828}"/>
              </a:ext>
            </a:extLst>
          </p:cNvPr>
          <p:cNvSpPr/>
          <p:nvPr/>
        </p:nvSpPr>
        <p:spPr>
          <a:xfrm>
            <a:off x="2032000" y="3200400"/>
            <a:ext cx="914400" cy="762000"/>
          </a:xfrm>
          <a:prstGeom prst="roundRect">
            <a:avLst>
              <a:gd name="adj" fmla="val 10000"/>
            </a:avLst>
          </a:prstGeom>
          <a:solidFill>
            <a:srgbClr val="10B981">
              <a:alpha val="45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5A11CD9B-1B8B-7FE6-576F-4E6B4F4C3294}"/>
              </a:ext>
            </a:extLst>
          </p:cNvPr>
          <p:cNvSpPr txBox="1"/>
          <p:nvPr/>
        </p:nvSpPr>
        <p:spPr>
          <a:xfrm>
            <a:off x="2082800" y="3263900"/>
            <a:ext cx="81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zh-TW" sz="900" b="1">
                <a:solidFill>
                  <a:srgbClr val="FFFFFF"/>
                </a:solidFill>
                <a:latin typeface="Consolas" panose="020B0609020204030204" pitchFamily="49" charset="0"/>
              </a:rPr>
              <a:t>1-3</a:t>
            </a:r>
            <a:endParaRPr lang="zh-TW" altLang="en-US" sz="900" b="1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矩形: 圓角 26">
            <a:extLst>
              <a:ext uri="{FF2B5EF4-FFF2-40B4-BE49-F238E27FC236}">
                <a16:creationId xmlns:a16="http://schemas.microsoft.com/office/drawing/2014/main" id="{FCB4C095-A355-3E2A-AEC2-9773FDF36A9F}"/>
              </a:ext>
            </a:extLst>
          </p:cNvPr>
          <p:cNvSpPr/>
          <p:nvPr/>
        </p:nvSpPr>
        <p:spPr>
          <a:xfrm>
            <a:off x="2997200" y="3200400"/>
            <a:ext cx="914400" cy="762000"/>
          </a:xfrm>
          <a:prstGeom prst="roundRect">
            <a:avLst>
              <a:gd name="adj" fmla="val 10000"/>
            </a:avLst>
          </a:prstGeom>
          <a:solidFill>
            <a:srgbClr val="F59E0B">
              <a:alpha val="45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E5B3CC7B-CBE7-292A-5229-F92ADAEF18C3}"/>
              </a:ext>
            </a:extLst>
          </p:cNvPr>
          <p:cNvSpPr txBox="1"/>
          <p:nvPr/>
        </p:nvSpPr>
        <p:spPr>
          <a:xfrm>
            <a:off x="3048000" y="3263900"/>
            <a:ext cx="81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zh-TW" sz="900" b="1">
                <a:solidFill>
                  <a:srgbClr val="FFFFFF"/>
                </a:solidFill>
                <a:latin typeface="Consolas" panose="020B0609020204030204" pitchFamily="49" charset="0"/>
              </a:rPr>
              <a:t>1-4 1-5 4-2</a:t>
            </a:r>
            <a:endParaRPr lang="zh-TW" altLang="en-US" sz="900" b="1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BD864409-4DA6-EB93-5795-317AF7205968}"/>
              </a:ext>
            </a:extLst>
          </p:cNvPr>
          <p:cNvSpPr/>
          <p:nvPr/>
        </p:nvSpPr>
        <p:spPr>
          <a:xfrm>
            <a:off x="3962400" y="3200400"/>
            <a:ext cx="914400" cy="762000"/>
          </a:xfrm>
          <a:prstGeom prst="roundRect">
            <a:avLst>
              <a:gd name="adj" fmla="val 10000"/>
            </a:avLst>
          </a:prstGeom>
          <a:solidFill>
            <a:srgbClr val="F59E0B">
              <a:alpha val="45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22F7BA66-BB6F-0FAC-569C-2D8C15CE0DC0}"/>
              </a:ext>
            </a:extLst>
          </p:cNvPr>
          <p:cNvSpPr txBox="1"/>
          <p:nvPr/>
        </p:nvSpPr>
        <p:spPr>
          <a:xfrm>
            <a:off x="4013200" y="3263900"/>
            <a:ext cx="81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zh-TW" sz="900" b="1">
                <a:solidFill>
                  <a:srgbClr val="FFFFFF"/>
                </a:solidFill>
                <a:latin typeface="Consolas" panose="020B0609020204030204" pitchFamily="49" charset="0"/>
              </a:rPr>
              <a:t>1-1</a:t>
            </a:r>
            <a:endParaRPr lang="zh-TW" altLang="en-US" sz="900" b="1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矩形: 圓角 30">
            <a:extLst>
              <a:ext uri="{FF2B5EF4-FFF2-40B4-BE49-F238E27FC236}">
                <a16:creationId xmlns:a16="http://schemas.microsoft.com/office/drawing/2014/main" id="{20D9C4C3-C366-93D8-3898-9F86F55D6589}"/>
              </a:ext>
            </a:extLst>
          </p:cNvPr>
          <p:cNvSpPr/>
          <p:nvPr/>
        </p:nvSpPr>
        <p:spPr>
          <a:xfrm>
            <a:off x="4927600" y="3200400"/>
            <a:ext cx="914400" cy="762000"/>
          </a:xfrm>
          <a:prstGeom prst="roundRect">
            <a:avLst>
              <a:gd name="adj" fmla="val 10000"/>
            </a:avLst>
          </a:prstGeom>
          <a:solidFill>
            <a:srgbClr val="EF4444">
              <a:alpha val="45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69077381-A34E-AD14-0FEB-4360E4475939}"/>
              </a:ext>
            </a:extLst>
          </p:cNvPr>
          <p:cNvSpPr txBox="1"/>
          <p:nvPr/>
        </p:nvSpPr>
        <p:spPr>
          <a:xfrm>
            <a:off x="736600" y="4292600"/>
            <a:ext cx="25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US" altLang="zh-TW" sz="1100">
                <a:solidFill>
                  <a:srgbClr val="94A3B8"/>
                </a:solidFill>
                <a:latin typeface="Consolas" panose="020B0609020204030204" pitchFamily="49" charset="0"/>
              </a:rPr>
              <a:t>2</a:t>
            </a:r>
            <a:endParaRPr lang="zh-TW" altLang="en-US" sz="1100">
              <a:solidFill>
                <a:srgbClr val="94A3B8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矩形: 圓角 32">
            <a:extLst>
              <a:ext uri="{FF2B5EF4-FFF2-40B4-BE49-F238E27FC236}">
                <a16:creationId xmlns:a16="http://schemas.microsoft.com/office/drawing/2014/main" id="{FE1F4ACD-7CB6-11F8-4069-09DCDEDB73CE}"/>
              </a:ext>
            </a:extLst>
          </p:cNvPr>
          <p:cNvSpPr/>
          <p:nvPr/>
        </p:nvSpPr>
        <p:spPr>
          <a:xfrm>
            <a:off x="1066800" y="4013200"/>
            <a:ext cx="914400" cy="762000"/>
          </a:xfrm>
          <a:prstGeom prst="roundRect">
            <a:avLst>
              <a:gd name="adj" fmla="val 10000"/>
            </a:avLst>
          </a:prstGeom>
          <a:solidFill>
            <a:srgbClr val="10B981">
              <a:alpha val="45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3A99DDE8-8246-9B1B-4D8A-B405D3A33250}"/>
              </a:ext>
            </a:extLst>
          </p:cNvPr>
          <p:cNvSpPr/>
          <p:nvPr/>
        </p:nvSpPr>
        <p:spPr>
          <a:xfrm>
            <a:off x="2032000" y="4013200"/>
            <a:ext cx="914400" cy="762000"/>
          </a:xfrm>
          <a:prstGeom prst="roundRect">
            <a:avLst>
              <a:gd name="adj" fmla="val 10000"/>
            </a:avLst>
          </a:prstGeom>
          <a:solidFill>
            <a:srgbClr val="10B981">
              <a:alpha val="45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矩形: 圓角 34">
            <a:extLst>
              <a:ext uri="{FF2B5EF4-FFF2-40B4-BE49-F238E27FC236}">
                <a16:creationId xmlns:a16="http://schemas.microsoft.com/office/drawing/2014/main" id="{7CA3DC87-2268-2DA0-E3BE-7E7EA90E06F5}"/>
              </a:ext>
            </a:extLst>
          </p:cNvPr>
          <p:cNvSpPr/>
          <p:nvPr/>
        </p:nvSpPr>
        <p:spPr>
          <a:xfrm>
            <a:off x="2997200" y="4013200"/>
            <a:ext cx="914400" cy="762000"/>
          </a:xfrm>
          <a:prstGeom prst="roundRect">
            <a:avLst>
              <a:gd name="adj" fmla="val 10000"/>
            </a:avLst>
          </a:prstGeom>
          <a:solidFill>
            <a:srgbClr val="10B981">
              <a:alpha val="45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矩形: 圓角 35">
            <a:extLst>
              <a:ext uri="{FF2B5EF4-FFF2-40B4-BE49-F238E27FC236}">
                <a16:creationId xmlns:a16="http://schemas.microsoft.com/office/drawing/2014/main" id="{FCE37291-A900-B20C-4CA3-5AE93FB6077E}"/>
              </a:ext>
            </a:extLst>
          </p:cNvPr>
          <p:cNvSpPr/>
          <p:nvPr/>
        </p:nvSpPr>
        <p:spPr>
          <a:xfrm>
            <a:off x="3962400" y="4013200"/>
            <a:ext cx="914400" cy="762000"/>
          </a:xfrm>
          <a:prstGeom prst="roundRect">
            <a:avLst>
              <a:gd name="adj" fmla="val 10000"/>
            </a:avLst>
          </a:prstGeom>
          <a:solidFill>
            <a:srgbClr val="F59E0B">
              <a:alpha val="45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矩形: 圓角 36">
            <a:extLst>
              <a:ext uri="{FF2B5EF4-FFF2-40B4-BE49-F238E27FC236}">
                <a16:creationId xmlns:a16="http://schemas.microsoft.com/office/drawing/2014/main" id="{9F7036AE-B4E2-47DA-D4C0-4F6474F0CCD2}"/>
              </a:ext>
            </a:extLst>
          </p:cNvPr>
          <p:cNvSpPr/>
          <p:nvPr/>
        </p:nvSpPr>
        <p:spPr>
          <a:xfrm>
            <a:off x="4927600" y="4013200"/>
            <a:ext cx="914400" cy="762000"/>
          </a:xfrm>
          <a:prstGeom prst="roundRect">
            <a:avLst>
              <a:gd name="adj" fmla="val 10000"/>
            </a:avLst>
          </a:prstGeom>
          <a:solidFill>
            <a:srgbClr val="F59E0B">
              <a:alpha val="45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D74D9747-3163-6E0D-5C57-36175BDDD31B}"/>
              </a:ext>
            </a:extLst>
          </p:cNvPr>
          <p:cNvSpPr txBox="1"/>
          <p:nvPr/>
        </p:nvSpPr>
        <p:spPr>
          <a:xfrm>
            <a:off x="736600" y="5105400"/>
            <a:ext cx="25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US" altLang="zh-TW" sz="1100">
                <a:solidFill>
                  <a:srgbClr val="94A3B8"/>
                </a:solidFill>
                <a:latin typeface="Consolas" panose="020B0609020204030204" pitchFamily="49" charset="0"/>
              </a:rPr>
              <a:t>1</a:t>
            </a:r>
            <a:endParaRPr lang="zh-TW" altLang="en-US" sz="1100">
              <a:solidFill>
                <a:srgbClr val="94A3B8"/>
              </a:solidFill>
              <a:latin typeface="Consolas" panose="020B0609020204030204" pitchFamily="49" charset="0"/>
            </a:endParaRPr>
          </a:p>
        </p:txBody>
      </p:sp>
      <p:sp>
        <p:nvSpPr>
          <p:cNvPr id="39" name="矩形: 圓角 38">
            <a:extLst>
              <a:ext uri="{FF2B5EF4-FFF2-40B4-BE49-F238E27FC236}">
                <a16:creationId xmlns:a16="http://schemas.microsoft.com/office/drawing/2014/main" id="{F2757DA2-E395-2016-FD29-241808FAEC7C}"/>
              </a:ext>
            </a:extLst>
          </p:cNvPr>
          <p:cNvSpPr/>
          <p:nvPr/>
        </p:nvSpPr>
        <p:spPr>
          <a:xfrm>
            <a:off x="1066800" y="4826000"/>
            <a:ext cx="914400" cy="762000"/>
          </a:xfrm>
          <a:prstGeom prst="roundRect">
            <a:avLst>
              <a:gd name="adj" fmla="val 10000"/>
            </a:avLst>
          </a:prstGeom>
          <a:solidFill>
            <a:srgbClr val="10B981">
              <a:alpha val="45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矩形: 圓角 39">
            <a:extLst>
              <a:ext uri="{FF2B5EF4-FFF2-40B4-BE49-F238E27FC236}">
                <a16:creationId xmlns:a16="http://schemas.microsoft.com/office/drawing/2014/main" id="{8B3CBEF2-9FCD-EC3B-B87D-4CBF22C5874A}"/>
              </a:ext>
            </a:extLst>
          </p:cNvPr>
          <p:cNvSpPr/>
          <p:nvPr/>
        </p:nvSpPr>
        <p:spPr>
          <a:xfrm>
            <a:off x="2032000" y="4826000"/>
            <a:ext cx="914400" cy="762000"/>
          </a:xfrm>
          <a:prstGeom prst="roundRect">
            <a:avLst>
              <a:gd name="adj" fmla="val 10000"/>
            </a:avLst>
          </a:prstGeom>
          <a:solidFill>
            <a:srgbClr val="10B981">
              <a:alpha val="45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矩形: 圓角 40">
            <a:extLst>
              <a:ext uri="{FF2B5EF4-FFF2-40B4-BE49-F238E27FC236}">
                <a16:creationId xmlns:a16="http://schemas.microsoft.com/office/drawing/2014/main" id="{2F70BBF9-F1E8-8D62-DC06-DA496E19CD8E}"/>
              </a:ext>
            </a:extLst>
          </p:cNvPr>
          <p:cNvSpPr/>
          <p:nvPr/>
        </p:nvSpPr>
        <p:spPr>
          <a:xfrm>
            <a:off x="2997200" y="4826000"/>
            <a:ext cx="914400" cy="762000"/>
          </a:xfrm>
          <a:prstGeom prst="roundRect">
            <a:avLst>
              <a:gd name="adj" fmla="val 10000"/>
            </a:avLst>
          </a:prstGeom>
          <a:solidFill>
            <a:srgbClr val="10B981">
              <a:alpha val="45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矩形: 圓角 41">
            <a:extLst>
              <a:ext uri="{FF2B5EF4-FFF2-40B4-BE49-F238E27FC236}">
                <a16:creationId xmlns:a16="http://schemas.microsoft.com/office/drawing/2014/main" id="{679EE2D1-C50D-0E95-8077-1A137A5A5730}"/>
              </a:ext>
            </a:extLst>
          </p:cNvPr>
          <p:cNvSpPr/>
          <p:nvPr/>
        </p:nvSpPr>
        <p:spPr>
          <a:xfrm>
            <a:off x="3962400" y="4826000"/>
            <a:ext cx="914400" cy="762000"/>
          </a:xfrm>
          <a:prstGeom prst="roundRect">
            <a:avLst>
              <a:gd name="adj" fmla="val 10000"/>
            </a:avLst>
          </a:prstGeom>
          <a:solidFill>
            <a:srgbClr val="10B981">
              <a:alpha val="45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矩形: 圓角 42">
            <a:extLst>
              <a:ext uri="{FF2B5EF4-FFF2-40B4-BE49-F238E27FC236}">
                <a16:creationId xmlns:a16="http://schemas.microsoft.com/office/drawing/2014/main" id="{658F7F2F-7594-3347-63FC-71B83C4317F6}"/>
              </a:ext>
            </a:extLst>
          </p:cNvPr>
          <p:cNvSpPr/>
          <p:nvPr/>
        </p:nvSpPr>
        <p:spPr>
          <a:xfrm>
            <a:off x="4927600" y="4826000"/>
            <a:ext cx="914400" cy="762000"/>
          </a:xfrm>
          <a:prstGeom prst="roundRect">
            <a:avLst>
              <a:gd name="adj" fmla="val 10000"/>
            </a:avLst>
          </a:prstGeom>
          <a:solidFill>
            <a:srgbClr val="10B981">
              <a:alpha val="45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99B5FEA9-CD58-FE70-DDA2-179F5406A8A9}"/>
              </a:ext>
            </a:extLst>
          </p:cNvPr>
          <p:cNvSpPr txBox="1"/>
          <p:nvPr/>
        </p:nvSpPr>
        <p:spPr>
          <a:xfrm>
            <a:off x="1066800" y="5689600"/>
            <a:ext cx="91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US" altLang="zh-TW" sz="1100">
                <a:solidFill>
                  <a:srgbClr val="94A3B8"/>
                </a:solidFill>
                <a:latin typeface="Consolas" panose="020B0609020204030204" pitchFamily="49" charset="0"/>
              </a:rPr>
              <a:t>1</a:t>
            </a:r>
            <a:endParaRPr lang="zh-TW" altLang="en-US" sz="1100">
              <a:solidFill>
                <a:srgbClr val="94A3B8"/>
              </a:solidFill>
              <a:latin typeface="Consolas" panose="020B0609020204030204" pitchFamily="49" charset="0"/>
            </a:endParaRP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0E5479AF-A84A-8142-E162-4484F07A54C9}"/>
              </a:ext>
            </a:extLst>
          </p:cNvPr>
          <p:cNvSpPr txBox="1"/>
          <p:nvPr/>
        </p:nvSpPr>
        <p:spPr>
          <a:xfrm>
            <a:off x="2032000" y="5689600"/>
            <a:ext cx="91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US" altLang="zh-TW" sz="1100">
                <a:solidFill>
                  <a:srgbClr val="94A3B8"/>
                </a:solidFill>
                <a:latin typeface="Consolas" panose="020B0609020204030204" pitchFamily="49" charset="0"/>
              </a:rPr>
              <a:t>2</a:t>
            </a:r>
            <a:endParaRPr lang="zh-TW" altLang="en-US" sz="1100">
              <a:solidFill>
                <a:srgbClr val="94A3B8"/>
              </a:solidFill>
              <a:latin typeface="Consolas" panose="020B0609020204030204" pitchFamily="49" charset="0"/>
            </a:endParaRPr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3D876F27-97EB-DF96-9E37-D17043BDD0FC}"/>
              </a:ext>
            </a:extLst>
          </p:cNvPr>
          <p:cNvSpPr txBox="1"/>
          <p:nvPr/>
        </p:nvSpPr>
        <p:spPr>
          <a:xfrm>
            <a:off x="2997200" y="5689600"/>
            <a:ext cx="91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US" altLang="zh-TW" sz="1100">
                <a:solidFill>
                  <a:srgbClr val="94A3B8"/>
                </a:solidFill>
                <a:latin typeface="Consolas" panose="020B0609020204030204" pitchFamily="49" charset="0"/>
              </a:rPr>
              <a:t>3</a:t>
            </a:r>
            <a:endParaRPr lang="zh-TW" altLang="en-US" sz="1100">
              <a:solidFill>
                <a:srgbClr val="94A3B8"/>
              </a:solidFill>
              <a:latin typeface="Consolas" panose="020B0609020204030204" pitchFamily="49" charset="0"/>
            </a:endParaRPr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7E06372A-2CE7-BF73-CC95-115A59FEE432}"/>
              </a:ext>
            </a:extLst>
          </p:cNvPr>
          <p:cNvSpPr txBox="1"/>
          <p:nvPr/>
        </p:nvSpPr>
        <p:spPr>
          <a:xfrm>
            <a:off x="3962400" y="5689600"/>
            <a:ext cx="91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US" altLang="zh-TW" sz="1100">
                <a:solidFill>
                  <a:srgbClr val="94A3B8"/>
                </a:solidFill>
                <a:latin typeface="Consolas" panose="020B0609020204030204" pitchFamily="49" charset="0"/>
              </a:rPr>
              <a:t>4</a:t>
            </a:r>
            <a:endParaRPr lang="zh-TW" altLang="en-US" sz="1100">
              <a:solidFill>
                <a:srgbClr val="94A3B8"/>
              </a:solidFill>
              <a:latin typeface="Consolas" panose="020B0609020204030204" pitchFamily="49" charset="0"/>
            </a:endParaRP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B0555043-B5F6-BA57-44F3-1627325CFC25}"/>
              </a:ext>
            </a:extLst>
          </p:cNvPr>
          <p:cNvSpPr txBox="1"/>
          <p:nvPr/>
        </p:nvSpPr>
        <p:spPr>
          <a:xfrm>
            <a:off x="4927600" y="5689600"/>
            <a:ext cx="91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US" altLang="zh-TW" sz="1100">
                <a:solidFill>
                  <a:srgbClr val="94A3B8"/>
                </a:solidFill>
                <a:latin typeface="Consolas" panose="020B0609020204030204" pitchFamily="49" charset="0"/>
              </a:rPr>
              <a:t>5</a:t>
            </a:r>
            <a:endParaRPr lang="zh-TW" altLang="en-US" sz="1100">
              <a:solidFill>
                <a:srgbClr val="94A3B8"/>
              </a:solidFill>
              <a:latin typeface="Consolas" panose="020B0609020204030204" pitchFamily="49" charset="0"/>
            </a:endParaRPr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71632160-1D64-FA09-9D89-E7A728F3F0B8}"/>
              </a:ext>
            </a:extLst>
          </p:cNvPr>
          <p:cNvSpPr txBox="1"/>
          <p:nvPr/>
        </p:nvSpPr>
        <p:spPr>
          <a:xfrm>
            <a:off x="1066800" y="5943600"/>
            <a:ext cx="477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0000"/>
              </a:lnSpc>
            </a:pPr>
            <a:r>
              <a:rPr lang="zh-TW" altLang="en-US" sz="1000">
                <a:solidFill>
                  <a:srgbClr val="94A3B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可能性（低 → 高）</a:t>
            </a:r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D16137E6-232F-7F94-5E4E-E01E9E15A9E4}"/>
              </a:ext>
            </a:extLst>
          </p:cNvPr>
          <p:cNvSpPr txBox="1"/>
          <p:nvPr/>
        </p:nvSpPr>
        <p:spPr>
          <a:xfrm>
            <a:off x="6350000" y="1574800"/>
            <a:ext cx="5232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zh-TW" altLang="en-US" sz="2400" b="1">
                <a:solidFill>
                  <a:srgbClr val="E2E8F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風險 ＝ 可能性 </a:t>
            </a:r>
            <a:r>
              <a:rPr lang="en-US" altLang="zh-TW" sz="2400" b="1">
                <a:solidFill>
                  <a:srgbClr val="E2E8F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× </a:t>
            </a:r>
            <a:r>
              <a:rPr lang="zh-TW" altLang="en-US" sz="2400" b="1">
                <a:solidFill>
                  <a:srgbClr val="E2E8F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衝擊</a:t>
            </a:r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622D7383-6F65-5DB6-8146-E717AF05AC0C}"/>
              </a:ext>
            </a:extLst>
          </p:cNvPr>
          <p:cNvSpPr txBox="1"/>
          <p:nvPr/>
        </p:nvSpPr>
        <p:spPr>
          <a:xfrm>
            <a:off x="6350000" y="2057400"/>
            <a:ext cx="5232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zh-TW" altLang="en-US" sz="1200">
                <a:solidFill>
                  <a:srgbClr val="94A3B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各 </a:t>
            </a:r>
            <a:r>
              <a:rPr lang="en-US" altLang="zh-TW" sz="1200">
                <a:solidFill>
                  <a:srgbClr val="94A3B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1–5 </a:t>
            </a:r>
            <a:r>
              <a:rPr lang="zh-TW" altLang="en-US" sz="1200">
                <a:solidFill>
                  <a:srgbClr val="94A3B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分，滿分 </a:t>
            </a:r>
            <a:r>
              <a:rPr lang="en-US" altLang="zh-TW" sz="1200">
                <a:solidFill>
                  <a:srgbClr val="94A3B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25 </a:t>
            </a:r>
            <a:r>
              <a:rPr lang="zh-TW" altLang="en-US" sz="1200">
                <a:solidFill>
                  <a:srgbClr val="94A3B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分；越往右上角越危險</a:t>
            </a:r>
          </a:p>
        </p:txBody>
      </p:sp>
      <p:sp>
        <p:nvSpPr>
          <p:cNvPr id="52" name="矩形: 圓角 51">
            <a:extLst>
              <a:ext uri="{FF2B5EF4-FFF2-40B4-BE49-F238E27FC236}">
                <a16:creationId xmlns:a16="http://schemas.microsoft.com/office/drawing/2014/main" id="{246D4E96-28B7-3A70-3B56-8A0D9C24F174}"/>
              </a:ext>
            </a:extLst>
          </p:cNvPr>
          <p:cNvSpPr/>
          <p:nvPr/>
        </p:nvSpPr>
        <p:spPr>
          <a:xfrm>
            <a:off x="6350000" y="2514600"/>
            <a:ext cx="1625600" cy="711200"/>
          </a:xfrm>
          <a:prstGeom prst="roundRect">
            <a:avLst>
              <a:gd name="adj" fmla="val 12000"/>
            </a:avLst>
          </a:prstGeom>
          <a:solidFill>
            <a:srgbClr val="EF44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zh-TW" altLang="en-US" sz="1200" b="1">
                <a:solidFill>
                  <a:srgbClr val="0B122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高風險</a:t>
            </a:r>
          </a:p>
          <a:p>
            <a:pPr algn="ctr"/>
            <a:r>
              <a:rPr lang="zh-TW" altLang="en-US" sz="1200" b="1">
                <a:solidFill>
                  <a:srgbClr val="0B122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≥ </a:t>
            </a:r>
            <a:r>
              <a:rPr lang="en-US" altLang="zh-TW" sz="1200" b="1">
                <a:solidFill>
                  <a:srgbClr val="0B122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15 </a:t>
            </a:r>
            <a:r>
              <a:rPr lang="zh-TW" altLang="en-US" sz="1200" b="1">
                <a:solidFill>
                  <a:srgbClr val="0B122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分</a:t>
            </a:r>
          </a:p>
        </p:txBody>
      </p:sp>
      <p:sp>
        <p:nvSpPr>
          <p:cNvPr id="53" name="矩形: 圓角 52">
            <a:extLst>
              <a:ext uri="{FF2B5EF4-FFF2-40B4-BE49-F238E27FC236}">
                <a16:creationId xmlns:a16="http://schemas.microsoft.com/office/drawing/2014/main" id="{D2D32BEA-FA22-E8D0-98CF-BBD872F049B4}"/>
              </a:ext>
            </a:extLst>
          </p:cNvPr>
          <p:cNvSpPr/>
          <p:nvPr/>
        </p:nvSpPr>
        <p:spPr>
          <a:xfrm>
            <a:off x="8153400" y="2514600"/>
            <a:ext cx="1625600" cy="711200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zh-TW" altLang="en-US" sz="1200" b="1">
                <a:solidFill>
                  <a:srgbClr val="0B122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中風險</a:t>
            </a:r>
          </a:p>
          <a:p>
            <a:pPr algn="ctr"/>
            <a:r>
              <a:rPr lang="en-US" altLang="zh-TW" sz="1200" b="1">
                <a:solidFill>
                  <a:srgbClr val="0B122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8–14 </a:t>
            </a:r>
            <a:r>
              <a:rPr lang="zh-TW" altLang="en-US" sz="1200" b="1">
                <a:solidFill>
                  <a:srgbClr val="0B122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分</a:t>
            </a:r>
          </a:p>
        </p:txBody>
      </p:sp>
      <p:sp>
        <p:nvSpPr>
          <p:cNvPr id="54" name="矩形: 圓角 53">
            <a:extLst>
              <a:ext uri="{FF2B5EF4-FFF2-40B4-BE49-F238E27FC236}">
                <a16:creationId xmlns:a16="http://schemas.microsoft.com/office/drawing/2014/main" id="{09E7F157-F5F0-0C31-E4E3-200FDCFA2E9F}"/>
              </a:ext>
            </a:extLst>
          </p:cNvPr>
          <p:cNvSpPr/>
          <p:nvPr/>
        </p:nvSpPr>
        <p:spPr>
          <a:xfrm>
            <a:off x="9956800" y="2514600"/>
            <a:ext cx="1625600" cy="711200"/>
          </a:xfrm>
          <a:prstGeom prst="roundRect">
            <a:avLst>
              <a:gd name="adj" fmla="val 12000"/>
            </a:avLst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zh-TW" altLang="en-US" sz="1200" b="1">
                <a:solidFill>
                  <a:srgbClr val="0B122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低風險</a:t>
            </a:r>
          </a:p>
          <a:p>
            <a:pPr algn="ctr"/>
            <a:r>
              <a:rPr lang="zh-TW" altLang="en-US" sz="1200" b="1">
                <a:solidFill>
                  <a:srgbClr val="0B122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≤ </a:t>
            </a:r>
            <a:r>
              <a:rPr lang="en-US" altLang="zh-TW" sz="1200" b="1">
                <a:solidFill>
                  <a:srgbClr val="0B122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7 </a:t>
            </a:r>
            <a:r>
              <a:rPr lang="zh-TW" altLang="en-US" sz="1200" b="1">
                <a:solidFill>
                  <a:srgbClr val="0B122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分</a:t>
            </a:r>
          </a:p>
        </p:txBody>
      </p:sp>
      <p:sp>
        <p:nvSpPr>
          <p:cNvPr id="55" name="矩形: 圓角 54">
            <a:extLst>
              <a:ext uri="{FF2B5EF4-FFF2-40B4-BE49-F238E27FC236}">
                <a16:creationId xmlns:a16="http://schemas.microsoft.com/office/drawing/2014/main" id="{23BF5853-B801-4B9C-A645-E32962F2E0F7}"/>
              </a:ext>
            </a:extLst>
          </p:cNvPr>
          <p:cNvSpPr/>
          <p:nvPr/>
        </p:nvSpPr>
        <p:spPr>
          <a:xfrm>
            <a:off x="6350000" y="3505200"/>
            <a:ext cx="5232400" cy="2489200"/>
          </a:xfrm>
          <a:prstGeom prst="roundRect">
            <a:avLst>
              <a:gd name="adj" fmla="val 8000"/>
            </a:avLst>
          </a:prstGeom>
          <a:solidFill>
            <a:srgbClr val="1C2A47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E264D139-2530-FF90-21D3-161A17E7A993}"/>
              </a:ext>
            </a:extLst>
          </p:cNvPr>
          <p:cNvSpPr txBox="1"/>
          <p:nvPr/>
        </p:nvSpPr>
        <p:spPr>
          <a:xfrm>
            <a:off x="6654800" y="3733800"/>
            <a:ext cx="462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zh-TW" altLang="en-US" sz="1600" b="1">
                <a:solidFill>
                  <a:srgbClr val="93C5F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反向思考</a:t>
            </a:r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90532756-3063-292F-56E9-9C596C05F364}"/>
              </a:ext>
            </a:extLst>
          </p:cNvPr>
          <p:cNvSpPr txBox="1"/>
          <p:nvPr/>
        </p:nvSpPr>
        <p:spPr>
          <a:xfrm>
            <a:off x="6654800" y="4140200"/>
            <a:ext cx="462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177800" indent="-177800">
              <a:lnSpc>
                <a:spcPct val="110000"/>
              </a:lnSpc>
              <a:spcAft>
                <a:spcPts val="800"/>
              </a:spcAft>
              <a:buFont typeface="+mj-lt"/>
              <a:buChar char="•"/>
            </a:pPr>
            <a:r>
              <a:rPr lang="zh-TW" altLang="en-US" sz="1300">
                <a:solidFill>
                  <a:srgbClr val="CBD5E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主題 </a:t>
            </a:r>
            <a:r>
              <a:rPr lang="en-US" altLang="zh-TW" sz="1300">
                <a:solidFill>
                  <a:srgbClr val="CBD5E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</a:t>
            </a:r>
            <a:r>
              <a:rPr lang="zh-TW" altLang="en-US" sz="1300">
                <a:solidFill>
                  <a:srgbClr val="CBD5E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（</a:t>
            </a:r>
            <a:r>
              <a:rPr lang="en-US" altLang="zh-TW" sz="1300">
                <a:solidFill>
                  <a:srgbClr val="CBD5E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SSDLC</a:t>
            </a:r>
            <a:r>
              <a:rPr lang="zh-TW" altLang="en-US" sz="1300">
                <a:solidFill>
                  <a:srgbClr val="CBD5E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）與主題 </a:t>
            </a:r>
            <a:r>
              <a:rPr lang="en-US" altLang="zh-TW" sz="1300">
                <a:solidFill>
                  <a:srgbClr val="CBD5E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4</a:t>
            </a:r>
            <a:r>
              <a:rPr lang="zh-TW" altLang="en-US" sz="1300">
                <a:solidFill>
                  <a:srgbClr val="CBD5E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（管控模式）是防護措施，本身不是威脅。</a:t>
            </a:r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Font typeface="+mj-lt"/>
              <a:buChar char="•"/>
            </a:pPr>
            <a:r>
              <a:rPr lang="zh-TW" altLang="en-US" sz="1300">
                <a:solidFill>
                  <a:srgbClr val="CBD5E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改問：「如果沒做到，會發生什麼事？」</a:t>
            </a:r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Font typeface="+mj-lt"/>
              <a:buChar char="•"/>
            </a:pPr>
            <a:r>
              <a:rPr lang="zh-TW" altLang="en-US" sz="1300">
                <a:solidFill>
                  <a:srgbClr val="CBD5E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四個主題因此能放在同一張矩陣上排序。</a:t>
            </a:r>
          </a:p>
        </p:txBody>
      </p:sp>
    </p:spTree>
    <p:extLst>
      <p:ext uri="{BB962C8B-B14F-4D97-AF65-F5344CB8AC3E}">
        <p14:creationId xmlns:p14="http://schemas.microsoft.com/office/powerpoint/2010/main" val="495167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20908FEA-7FE6-20A9-E241-2BFDD302FACE}"/>
              </a:ext>
            </a:extLst>
          </p:cNvPr>
          <p:cNvSpPr txBox="1"/>
          <p:nvPr/>
        </p:nvSpPr>
        <p:spPr>
          <a:xfrm>
            <a:off x="609600" y="4064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zh-TW" sz="1100" b="1" spc="200">
                <a:solidFill>
                  <a:srgbClr val="93C5F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PRINCIPLE 3–4 / 6</a:t>
            </a:r>
            <a:endParaRPr lang="zh-TW" altLang="en-US" sz="1100" b="1" spc="200">
              <a:solidFill>
                <a:srgbClr val="93C5FD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1704B9B-AAD1-FEB7-C930-239B8D5E2A30}"/>
              </a:ext>
            </a:extLst>
          </p:cNvPr>
          <p:cNvSpPr txBox="1"/>
          <p:nvPr/>
        </p:nvSpPr>
        <p:spPr>
          <a:xfrm>
            <a:off x="609600" y="685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ja-JP" altLang="en-US" sz="2800" b="1">
                <a:solidFill>
                  <a:srgbClr val="E2E8F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顏色就是意義・情境重現</a:t>
            </a:r>
            <a:endParaRPr lang="zh-TW" altLang="en-US" sz="2800" b="1">
              <a:solidFill>
                <a:srgbClr val="E2E8F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E4799D89-B73B-1FB2-7B44-A385848155A6}"/>
              </a:ext>
            </a:extLst>
          </p:cNvPr>
          <p:cNvSpPr txBox="1"/>
          <p:nvPr/>
        </p:nvSpPr>
        <p:spPr>
          <a:xfrm>
            <a:off x="609600" y="15240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zh-TW" altLang="en-US" sz="1600" b="1">
                <a:solidFill>
                  <a:srgbClr val="E2E8F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顏色只傳達一件事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D1A76D70-07EA-5A94-4513-0810965126D2}"/>
              </a:ext>
            </a:extLst>
          </p:cNvPr>
          <p:cNvSpPr/>
          <p:nvPr/>
        </p:nvSpPr>
        <p:spPr>
          <a:xfrm>
            <a:off x="609600" y="2006600"/>
            <a:ext cx="5080000" cy="736600"/>
          </a:xfrm>
          <a:prstGeom prst="roundRect">
            <a:avLst>
              <a:gd name="adj" fmla="val 15000"/>
            </a:avLst>
          </a:prstGeom>
          <a:solidFill>
            <a:srgbClr val="16213A"/>
          </a:solidFill>
          <a:ln w="12700">
            <a:solidFill>
              <a:srgbClr val="2637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B1A10562-099C-7F69-337D-40C61EDC7C95}"/>
              </a:ext>
            </a:extLst>
          </p:cNvPr>
          <p:cNvSpPr/>
          <p:nvPr/>
        </p:nvSpPr>
        <p:spPr>
          <a:xfrm>
            <a:off x="838200" y="2222500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EF44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C39AC44E-A49E-175C-385D-E78F8C517F9B}"/>
              </a:ext>
            </a:extLst>
          </p:cNvPr>
          <p:cNvSpPr txBox="1"/>
          <p:nvPr/>
        </p:nvSpPr>
        <p:spPr>
          <a:xfrm>
            <a:off x="1346200" y="2133600"/>
            <a:ext cx="419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zh-TW" altLang="en-US" sz="1500" b="1">
                <a:solidFill>
                  <a:srgbClr val="E2E8F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高風險</a:t>
            </a:r>
          </a:p>
          <a:p>
            <a:pPr>
              <a:lnSpc>
                <a:spcPct val="110000"/>
              </a:lnSpc>
            </a:pPr>
            <a:r>
              <a:rPr lang="zh-TW" altLang="en-US" sz="1200">
                <a:solidFill>
                  <a:srgbClr val="94A3B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≥ </a:t>
            </a:r>
            <a:r>
              <a:rPr lang="en-US" altLang="zh-TW" sz="1200">
                <a:solidFill>
                  <a:srgbClr val="94A3B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15 </a:t>
            </a:r>
            <a:r>
              <a:rPr lang="zh-TW" altLang="en-US" sz="1200">
                <a:solidFill>
                  <a:srgbClr val="94A3B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分｜</a:t>
            </a:r>
            <a:r>
              <a:rPr lang="en-US" altLang="zh-TW" sz="1200">
                <a:solidFill>
                  <a:srgbClr val="94A3B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18 </a:t>
            </a:r>
            <a:r>
              <a:rPr lang="zh-TW" altLang="en-US" sz="1200">
                <a:solidFill>
                  <a:srgbClr val="94A3B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項，優先處理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22ECD12D-C68A-0E9D-765E-BB31A3A37A75}"/>
              </a:ext>
            </a:extLst>
          </p:cNvPr>
          <p:cNvSpPr/>
          <p:nvPr/>
        </p:nvSpPr>
        <p:spPr>
          <a:xfrm>
            <a:off x="609600" y="2895600"/>
            <a:ext cx="5080000" cy="736600"/>
          </a:xfrm>
          <a:prstGeom prst="roundRect">
            <a:avLst>
              <a:gd name="adj" fmla="val 15000"/>
            </a:avLst>
          </a:prstGeom>
          <a:solidFill>
            <a:srgbClr val="16213A"/>
          </a:solidFill>
          <a:ln w="12700">
            <a:solidFill>
              <a:srgbClr val="2637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6BF7C4B4-144C-D6AE-61ED-C0192BD76F3C}"/>
              </a:ext>
            </a:extLst>
          </p:cNvPr>
          <p:cNvSpPr/>
          <p:nvPr/>
        </p:nvSpPr>
        <p:spPr>
          <a:xfrm>
            <a:off x="838200" y="3111500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D95D2B3-12BC-8CBA-3A4A-7BDF37C4AA2F}"/>
              </a:ext>
            </a:extLst>
          </p:cNvPr>
          <p:cNvSpPr txBox="1"/>
          <p:nvPr/>
        </p:nvSpPr>
        <p:spPr>
          <a:xfrm>
            <a:off x="1346200" y="3022600"/>
            <a:ext cx="419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zh-TW" altLang="en-US" sz="1500" b="1">
                <a:solidFill>
                  <a:srgbClr val="E2E8F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中風險</a:t>
            </a:r>
          </a:p>
          <a:p>
            <a:pPr>
              <a:lnSpc>
                <a:spcPct val="110000"/>
              </a:lnSpc>
            </a:pPr>
            <a:r>
              <a:rPr lang="en-US" altLang="zh-TW" sz="1200">
                <a:solidFill>
                  <a:srgbClr val="94A3B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8–14 </a:t>
            </a:r>
            <a:r>
              <a:rPr lang="zh-TW" altLang="en-US" sz="1200">
                <a:solidFill>
                  <a:srgbClr val="94A3B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分｜</a:t>
            </a:r>
            <a:r>
              <a:rPr lang="en-US" altLang="zh-TW" sz="1200">
                <a:solidFill>
                  <a:srgbClr val="94A3B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8 </a:t>
            </a:r>
            <a:r>
              <a:rPr lang="zh-TW" altLang="en-US" sz="1200">
                <a:solidFill>
                  <a:srgbClr val="94A3B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項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AB65217D-B8E5-29BF-B7E0-8C754B190A43}"/>
              </a:ext>
            </a:extLst>
          </p:cNvPr>
          <p:cNvSpPr/>
          <p:nvPr/>
        </p:nvSpPr>
        <p:spPr>
          <a:xfrm>
            <a:off x="609600" y="3784600"/>
            <a:ext cx="5080000" cy="736600"/>
          </a:xfrm>
          <a:prstGeom prst="roundRect">
            <a:avLst>
              <a:gd name="adj" fmla="val 15000"/>
            </a:avLst>
          </a:prstGeom>
          <a:solidFill>
            <a:srgbClr val="16213A"/>
          </a:solidFill>
          <a:ln w="12700">
            <a:solidFill>
              <a:srgbClr val="2637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F28B961A-CFF5-5B81-8C39-9E264BCB7F37}"/>
              </a:ext>
            </a:extLst>
          </p:cNvPr>
          <p:cNvSpPr/>
          <p:nvPr/>
        </p:nvSpPr>
        <p:spPr>
          <a:xfrm>
            <a:off x="838200" y="4000500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95810312-CF59-2C56-A391-B6E0541280BA}"/>
              </a:ext>
            </a:extLst>
          </p:cNvPr>
          <p:cNvSpPr txBox="1"/>
          <p:nvPr/>
        </p:nvSpPr>
        <p:spPr>
          <a:xfrm>
            <a:off x="1346200" y="3911600"/>
            <a:ext cx="419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zh-TW" altLang="en-US" sz="1500" b="1">
                <a:solidFill>
                  <a:srgbClr val="E2E8F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低風險</a:t>
            </a:r>
          </a:p>
          <a:p>
            <a:pPr>
              <a:lnSpc>
                <a:spcPct val="110000"/>
              </a:lnSpc>
            </a:pPr>
            <a:r>
              <a:rPr lang="zh-TW" altLang="en-US" sz="1200">
                <a:solidFill>
                  <a:srgbClr val="94A3B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≤ </a:t>
            </a:r>
            <a:r>
              <a:rPr lang="en-US" altLang="zh-TW" sz="1200">
                <a:solidFill>
                  <a:srgbClr val="94A3B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7 </a:t>
            </a:r>
            <a:r>
              <a:rPr lang="zh-TW" altLang="en-US" sz="1200">
                <a:solidFill>
                  <a:srgbClr val="94A3B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分｜</a:t>
            </a:r>
            <a:r>
              <a:rPr lang="en-US" altLang="zh-TW" sz="1200">
                <a:solidFill>
                  <a:srgbClr val="94A3B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 </a:t>
            </a:r>
            <a:r>
              <a:rPr lang="zh-TW" altLang="en-US" sz="1200">
                <a:solidFill>
                  <a:srgbClr val="94A3B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項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9AA253A8-F85B-8719-22F3-73B94B162346}"/>
              </a:ext>
            </a:extLst>
          </p:cNvPr>
          <p:cNvSpPr/>
          <p:nvPr/>
        </p:nvSpPr>
        <p:spPr>
          <a:xfrm>
            <a:off x="609600" y="4673600"/>
            <a:ext cx="5080000" cy="736600"/>
          </a:xfrm>
          <a:prstGeom prst="roundRect">
            <a:avLst>
              <a:gd name="adj" fmla="val 15000"/>
            </a:avLst>
          </a:prstGeom>
          <a:solidFill>
            <a:srgbClr val="16213A"/>
          </a:solidFill>
          <a:ln w="12700">
            <a:solidFill>
              <a:srgbClr val="2637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DE2EC025-64BB-92F2-FFB2-B812A278FD5F}"/>
              </a:ext>
            </a:extLst>
          </p:cNvPr>
          <p:cNvSpPr/>
          <p:nvPr/>
        </p:nvSpPr>
        <p:spPr>
          <a:xfrm>
            <a:off x="838200" y="4889500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E17B0B58-A518-6FD2-0608-DFFC47AE6ADE}"/>
              </a:ext>
            </a:extLst>
          </p:cNvPr>
          <p:cNvSpPr txBox="1"/>
          <p:nvPr/>
        </p:nvSpPr>
        <p:spPr>
          <a:xfrm>
            <a:off x="1346200" y="4800600"/>
            <a:ext cx="419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zh-TW" altLang="en-US" sz="1500" b="1">
                <a:solidFill>
                  <a:srgbClr val="E2E8F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藍色</a:t>
            </a:r>
          </a:p>
          <a:p>
            <a:pPr>
              <a:lnSpc>
                <a:spcPct val="110000"/>
              </a:lnSpc>
            </a:pPr>
            <a:r>
              <a:rPr lang="zh-TW" altLang="en-US" sz="1200">
                <a:solidFill>
                  <a:srgbClr val="94A3B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可點擊的操作與導覽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9382312D-42D4-99A9-1BA1-E239A5A15A89}"/>
              </a:ext>
            </a:extLst>
          </p:cNvPr>
          <p:cNvSpPr txBox="1"/>
          <p:nvPr/>
        </p:nvSpPr>
        <p:spPr>
          <a:xfrm>
            <a:off x="609600" y="56642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zh-TW" altLang="en-US" sz="1200">
                <a:solidFill>
                  <a:srgbClr val="94A3B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深色主題延續資安監控中心（</a:t>
            </a:r>
            <a:r>
              <a:rPr lang="en-US" altLang="zh-TW" sz="1200">
                <a:solidFill>
                  <a:srgbClr val="94A3B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SOC</a:t>
            </a:r>
            <a:r>
              <a:rPr lang="zh-TW" altLang="en-US" sz="1200">
                <a:solidFill>
                  <a:srgbClr val="94A3B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）的慣例，長時間閱讀也不刺眼。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DE529F9B-DCAB-9F09-8DCD-32318F7056E8}"/>
              </a:ext>
            </a:extLst>
          </p:cNvPr>
          <p:cNvSpPr txBox="1"/>
          <p:nvPr/>
        </p:nvSpPr>
        <p:spPr>
          <a:xfrm>
            <a:off x="6197600" y="1524000"/>
            <a:ext cx="538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zh-TW" altLang="en-US" sz="1600" b="1">
                <a:solidFill>
                  <a:srgbClr val="E2E8F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讓威脅看得見：情境 </a:t>
            </a:r>
            <a:r>
              <a:rPr lang="en-US" altLang="zh-TW" sz="1600" b="1">
                <a:solidFill>
                  <a:srgbClr val="E2E8F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2-2</a:t>
            </a:r>
            <a:endParaRPr lang="zh-TW" altLang="en-US" sz="1600" b="1">
              <a:solidFill>
                <a:srgbClr val="E2E8F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607FEADC-AD20-2FA5-69DE-44567187821B}"/>
              </a:ext>
            </a:extLst>
          </p:cNvPr>
          <p:cNvSpPr/>
          <p:nvPr/>
        </p:nvSpPr>
        <p:spPr>
          <a:xfrm>
            <a:off x="6197600" y="2006600"/>
            <a:ext cx="5384800" cy="2489200"/>
          </a:xfrm>
          <a:prstGeom prst="roundRect">
            <a:avLst>
              <a:gd name="adj" fmla="val 5000"/>
            </a:avLst>
          </a:prstGeom>
          <a:solidFill>
            <a:srgbClr val="0B1222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C6361F5-739E-D495-E293-B007E50C60B3}"/>
              </a:ext>
            </a:extLst>
          </p:cNvPr>
          <p:cNvSpPr/>
          <p:nvPr/>
        </p:nvSpPr>
        <p:spPr>
          <a:xfrm>
            <a:off x="6210300" y="2019300"/>
            <a:ext cx="5359400" cy="355600"/>
          </a:xfrm>
          <a:prstGeom prst="rect">
            <a:avLst/>
          </a:prstGeom>
          <a:solidFill>
            <a:srgbClr val="131C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r>
              <a:rPr lang="ja-JP" altLang="en-US" sz="1000">
                <a:solidFill>
                  <a:srgbClr val="94A3B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✉ 模擬郵件・收件匣</a:t>
            </a:r>
            <a:endParaRPr lang="zh-TW" altLang="en-US" sz="1000">
              <a:solidFill>
                <a:srgbClr val="94A3B8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2ABC04FC-FD5F-AFB6-2040-A7B69F631C79}"/>
              </a:ext>
            </a:extLst>
          </p:cNvPr>
          <p:cNvSpPr txBox="1"/>
          <p:nvPr/>
        </p:nvSpPr>
        <p:spPr>
          <a:xfrm>
            <a:off x="6426200" y="2514600"/>
            <a:ext cx="495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zh-TW" altLang="en-US" sz="1100">
                <a:solidFill>
                  <a:srgbClr val="94A3B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寄件者：</a:t>
            </a:r>
            <a:r>
              <a:rPr lang="en-US" altLang="zh-TW" sz="1100">
                <a:solidFill>
                  <a:srgbClr val="94A3B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Viet Textile Co., Ltd &lt;sales@viet-texti</a:t>
            </a:r>
            <a:r>
              <a:rPr lang="en-US" altLang="zh-TW" sz="1100" b="1">
                <a:solidFill>
                  <a:srgbClr val="EF4444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I</a:t>
            </a:r>
            <a:r>
              <a:rPr lang="en-US" altLang="zh-TW" sz="1100">
                <a:solidFill>
                  <a:srgbClr val="94A3B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e.com&gt;</a:t>
            </a:r>
          </a:p>
          <a:p>
            <a:pPr>
              <a:lnSpc>
                <a:spcPct val="110000"/>
              </a:lnSpc>
            </a:pPr>
            <a:r>
              <a:rPr lang="zh-TW" altLang="en-US" sz="1100">
                <a:solidFill>
                  <a:srgbClr val="94A3B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主旨：</a:t>
            </a:r>
            <a:r>
              <a:rPr lang="en-US" altLang="zh-TW" sz="1100">
                <a:solidFill>
                  <a:srgbClr val="94A3B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【</a:t>
            </a:r>
            <a:r>
              <a:rPr lang="zh-TW" altLang="en-US" sz="1100">
                <a:solidFill>
                  <a:srgbClr val="94A3B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急件</a:t>
            </a:r>
            <a:r>
              <a:rPr lang="en-US" altLang="zh-TW" sz="1100">
                <a:solidFill>
                  <a:srgbClr val="94A3B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】</a:t>
            </a:r>
            <a:r>
              <a:rPr lang="zh-TW" altLang="en-US" sz="1100">
                <a:solidFill>
                  <a:srgbClr val="94A3B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匯款帳戶變更通知</a:t>
            </a:r>
          </a:p>
        </p:txBody>
      </p: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47D729F4-9015-A60C-5F81-EA6C4FB8E110}"/>
              </a:ext>
            </a:extLst>
          </p:cNvPr>
          <p:cNvCxnSpPr/>
          <p:nvPr/>
        </p:nvCxnSpPr>
        <p:spPr>
          <a:xfrm>
            <a:off x="6426200" y="3149600"/>
            <a:ext cx="4927600" cy="0"/>
          </a:xfrm>
          <a:prstGeom prst="line">
            <a:avLst/>
          </a:prstGeom>
          <a:ln>
            <a:solidFill>
              <a:srgbClr val="33415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5ACF1CEF-6D53-10BA-D1DC-E6A16391F674}"/>
              </a:ext>
            </a:extLst>
          </p:cNvPr>
          <p:cNvSpPr txBox="1"/>
          <p:nvPr/>
        </p:nvSpPr>
        <p:spPr>
          <a:xfrm>
            <a:off x="6426200" y="3276600"/>
            <a:ext cx="495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zh-TW" altLang="en-US" sz="1200">
                <a:solidFill>
                  <a:srgbClr val="CBD5E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本期貨款 </a:t>
            </a:r>
            <a:r>
              <a:rPr lang="en-US" altLang="zh-TW" sz="1200">
                <a:solidFill>
                  <a:srgbClr val="CBD5E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NT$3,000,000 </a:t>
            </a:r>
            <a:r>
              <a:rPr lang="zh-TW" altLang="en-US" sz="1200">
                <a:solidFill>
                  <a:srgbClr val="CBD5E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請改匯至新帳戶，並於今日下午 </a:t>
            </a:r>
            <a:r>
              <a:rPr lang="en-US" altLang="zh-TW" sz="1200">
                <a:solidFill>
                  <a:srgbClr val="CBD5E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 </a:t>
            </a:r>
            <a:r>
              <a:rPr lang="zh-TW" altLang="en-US" sz="1200">
                <a:solidFill>
                  <a:srgbClr val="CBD5E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點前完成。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zh-TW" altLang="en-US" sz="1200">
                <a:solidFill>
                  <a:srgbClr val="CBD5E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負責人目前出國中，請勿來電，有問題請直接回信。</a:t>
            </a:r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312D773B-ECC9-133B-3CC6-FC985D55CD5D}"/>
              </a:ext>
            </a:extLst>
          </p:cNvPr>
          <p:cNvSpPr/>
          <p:nvPr/>
        </p:nvSpPr>
        <p:spPr>
          <a:xfrm>
            <a:off x="6197600" y="4699000"/>
            <a:ext cx="2260600" cy="381000"/>
          </a:xfrm>
          <a:prstGeom prst="roundRect">
            <a:avLst>
              <a:gd name="adj" fmla="val 30000"/>
            </a:avLst>
          </a:prstGeom>
          <a:solidFill>
            <a:srgbClr val="3B1620"/>
          </a:solidFill>
          <a:ln w="12700">
            <a:solidFill>
              <a:srgbClr val="EF44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lstStyle/>
          <a:p>
            <a:pPr algn="ctr"/>
            <a:r>
              <a:rPr lang="zh-TW" altLang="en-US" sz="1100" b="1">
                <a:solidFill>
                  <a:srgbClr val="FCA5A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網域以大寫 </a:t>
            </a:r>
            <a:r>
              <a:rPr lang="en-US" altLang="zh-TW" sz="1100" b="1">
                <a:solidFill>
                  <a:srgbClr val="FCA5A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I </a:t>
            </a:r>
            <a:r>
              <a:rPr lang="zh-TW" altLang="en-US" sz="1100" b="1">
                <a:solidFill>
                  <a:srgbClr val="FCA5A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冒充小寫 </a:t>
            </a:r>
            <a:r>
              <a:rPr lang="en-US" altLang="zh-TW" sz="1100" b="1">
                <a:solidFill>
                  <a:srgbClr val="FCA5A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</a:t>
            </a:r>
            <a:endParaRPr lang="zh-TW" altLang="en-US" sz="1100" b="1">
              <a:solidFill>
                <a:srgbClr val="FCA5A5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DE4DE3E4-B1C9-97E5-9D5F-C0905A38B6FD}"/>
              </a:ext>
            </a:extLst>
          </p:cNvPr>
          <p:cNvSpPr/>
          <p:nvPr/>
        </p:nvSpPr>
        <p:spPr>
          <a:xfrm>
            <a:off x="8585200" y="4699000"/>
            <a:ext cx="1003300" cy="381000"/>
          </a:xfrm>
          <a:prstGeom prst="roundRect">
            <a:avLst>
              <a:gd name="adj" fmla="val 30000"/>
            </a:avLst>
          </a:prstGeom>
          <a:solidFill>
            <a:srgbClr val="3B1620"/>
          </a:solidFill>
          <a:ln w="12700">
            <a:solidFill>
              <a:srgbClr val="EF44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lstStyle/>
          <a:p>
            <a:pPr algn="ctr"/>
            <a:r>
              <a:rPr lang="zh-TW" altLang="en-US" sz="1100" b="1">
                <a:solidFill>
                  <a:srgbClr val="FCA5A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製造急迫感</a:t>
            </a:r>
          </a:p>
        </p:txBody>
      </p: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D02A893A-79D3-D944-82B8-0BFE142F1023}"/>
              </a:ext>
            </a:extLst>
          </p:cNvPr>
          <p:cNvSpPr/>
          <p:nvPr/>
        </p:nvSpPr>
        <p:spPr>
          <a:xfrm>
            <a:off x="9715500" y="4699000"/>
            <a:ext cx="1143000" cy="381000"/>
          </a:xfrm>
          <a:prstGeom prst="roundRect">
            <a:avLst>
              <a:gd name="adj" fmla="val 30000"/>
            </a:avLst>
          </a:prstGeom>
          <a:solidFill>
            <a:srgbClr val="3B1620"/>
          </a:solidFill>
          <a:ln w="12700">
            <a:solidFill>
              <a:srgbClr val="EF44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lstStyle/>
          <a:p>
            <a:pPr algn="ctr"/>
            <a:r>
              <a:rPr lang="zh-TW" altLang="en-US" sz="1100" b="1">
                <a:solidFill>
                  <a:srgbClr val="FCA5A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阻止電話確認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DC71C505-91E7-264C-9123-E920A425B04F}"/>
              </a:ext>
            </a:extLst>
          </p:cNvPr>
          <p:cNvSpPr txBox="1"/>
          <p:nvPr/>
        </p:nvSpPr>
        <p:spPr>
          <a:xfrm>
            <a:off x="6197600" y="5308600"/>
            <a:ext cx="538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zh-TW" altLang="en-US" sz="1200">
                <a:solidFill>
                  <a:srgbClr val="93C5F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文字告訴你這是釣魚信，模擬畫面讓你親眼看到它長什麼樣子。</a:t>
            </a:r>
          </a:p>
        </p:txBody>
      </p:sp>
    </p:spTree>
    <p:extLst>
      <p:ext uri="{BB962C8B-B14F-4D97-AF65-F5344CB8AC3E}">
        <p14:creationId xmlns:p14="http://schemas.microsoft.com/office/powerpoint/2010/main" val="6362509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75EB8808-5733-9E2A-4D22-7008A831C596}"/>
              </a:ext>
            </a:extLst>
          </p:cNvPr>
          <p:cNvSpPr txBox="1"/>
          <p:nvPr/>
        </p:nvSpPr>
        <p:spPr>
          <a:xfrm>
            <a:off x="609600" y="4064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zh-TW" sz="1100" b="1" spc="200">
                <a:solidFill>
                  <a:srgbClr val="93C5F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PRINCIPLE 5 / 6</a:t>
            </a:r>
            <a:endParaRPr lang="zh-TW" altLang="en-US" sz="1100" b="1" spc="200">
              <a:solidFill>
                <a:srgbClr val="93C5FD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A35995E-118F-78EF-62EC-7C6C8AAB6ECE}"/>
              </a:ext>
            </a:extLst>
          </p:cNvPr>
          <p:cNvSpPr txBox="1"/>
          <p:nvPr/>
        </p:nvSpPr>
        <p:spPr>
          <a:xfrm>
            <a:off x="609600" y="685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zh-TW" altLang="en-US" sz="2800" b="1">
                <a:solidFill>
                  <a:srgbClr val="E2E8F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資料可追溯：一張情境卡的構成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06794D4E-6575-1265-8DF2-3067C0BF0A33}"/>
              </a:ext>
            </a:extLst>
          </p:cNvPr>
          <p:cNvSpPr/>
          <p:nvPr/>
        </p:nvSpPr>
        <p:spPr>
          <a:xfrm>
            <a:off x="609600" y="1473200"/>
            <a:ext cx="7366000" cy="4368800"/>
          </a:xfrm>
          <a:prstGeom prst="roundRect">
            <a:avLst>
              <a:gd name="adj" fmla="val 4000"/>
            </a:avLst>
          </a:prstGeom>
          <a:solidFill>
            <a:srgbClr val="16213A"/>
          </a:solidFill>
          <a:ln w="12700">
            <a:solidFill>
              <a:srgbClr val="2637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EAD4F8D6-4C9A-642F-B845-01908798AAEA}"/>
              </a:ext>
            </a:extLst>
          </p:cNvPr>
          <p:cNvSpPr/>
          <p:nvPr/>
        </p:nvSpPr>
        <p:spPr>
          <a:xfrm>
            <a:off x="838200" y="1701800"/>
            <a:ext cx="508000" cy="279400"/>
          </a:xfrm>
          <a:prstGeom prst="roundRect">
            <a:avLst>
              <a:gd name="adj" fmla="val 20000"/>
            </a:avLst>
          </a:prstGeom>
          <a:solidFill>
            <a:srgbClr val="1C2A47"/>
          </a:solidFill>
          <a:ln w="12700">
            <a:solidFill>
              <a:srgbClr val="2637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lstStyle/>
          <a:p>
            <a:pPr algn="ctr"/>
            <a:r>
              <a:rPr lang="en-US" altLang="zh-TW" sz="1000" b="1">
                <a:solidFill>
                  <a:srgbClr val="E2E8F0"/>
                </a:solidFill>
                <a:latin typeface="Consolas" panose="020B0609020204030204" pitchFamily="49" charset="0"/>
              </a:rPr>
              <a:t>3-2</a:t>
            </a:r>
            <a:endParaRPr lang="zh-TW" altLang="en-US" sz="1000" b="1">
              <a:solidFill>
                <a:srgbClr val="E2E8F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F6BEFF1-9499-3B22-392E-9CCEB3ACF2CC}"/>
              </a:ext>
            </a:extLst>
          </p:cNvPr>
          <p:cNvSpPr txBox="1"/>
          <p:nvPr/>
        </p:nvSpPr>
        <p:spPr>
          <a:xfrm>
            <a:off x="1676400" y="1676400"/>
            <a:ext cx="469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zh-TW" altLang="en-US" sz="1300">
                <a:solidFill>
                  <a:srgbClr val="E2E8F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除了基本密碼外，必須強制綁定手機輸入動態密碼才能真正登入系統。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C67194C2-DE40-99E3-E6AE-8E26EAA04C03}"/>
              </a:ext>
            </a:extLst>
          </p:cNvPr>
          <p:cNvSpPr txBox="1"/>
          <p:nvPr/>
        </p:nvSpPr>
        <p:spPr>
          <a:xfrm>
            <a:off x="1676400" y="2260600"/>
            <a:ext cx="469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zh-TW" sz="1200" b="1">
                <a:solidFill>
                  <a:srgbClr val="94A3B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SSDLC </a:t>
            </a:r>
            <a:r>
              <a:rPr lang="zh-TW" altLang="en-US" sz="1200" b="1">
                <a:solidFill>
                  <a:srgbClr val="94A3B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要求</a:t>
            </a:r>
            <a:r>
              <a:rPr lang="zh-TW" altLang="en-US" sz="1200" b="1">
                <a:solidFill>
                  <a:srgbClr val="93C5F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　</a:t>
            </a:r>
            <a:r>
              <a:rPr lang="en-US" altLang="zh-TW" sz="1200" b="1">
                <a:solidFill>
                  <a:srgbClr val="93C5F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Authenticity</a:t>
            </a:r>
            <a:r>
              <a:rPr lang="zh-TW" altLang="en-US" sz="1200" b="1">
                <a:solidFill>
                  <a:srgbClr val="93C5F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（身分驗證）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F4BBC6D7-30EA-B024-D476-5F2433526616}"/>
              </a:ext>
            </a:extLst>
          </p:cNvPr>
          <p:cNvSpPr/>
          <p:nvPr/>
        </p:nvSpPr>
        <p:spPr>
          <a:xfrm>
            <a:off x="6731000" y="1676400"/>
            <a:ext cx="1016000" cy="279400"/>
          </a:xfrm>
          <a:prstGeom prst="roundRect">
            <a:avLst>
              <a:gd name="adj" fmla="val 50000"/>
            </a:avLst>
          </a:prstGeom>
          <a:solidFill>
            <a:srgbClr val="3B1620"/>
          </a:solidFill>
          <a:ln w="12700">
            <a:solidFill>
              <a:srgbClr val="EF44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lstStyle/>
          <a:p>
            <a:pPr algn="ctr"/>
            <a:r>
              <a:rPr lang="zh-TW" altLang="en-US" sz="1000" b="1">
                <a:solidFill>
                  <a:srgbClr val="FCA5A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高風險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C2340120-53BE-EF37-4F8F-3BE614D60C00}"/>
              </a:ext>
            </a:extLst>
          </p:cNvPr>
          <p:cNvSpPr txBox="1"/>
          <p:nvPr/>
        </p:nvSpPr>
        <p:spPr>
          <a:xfrm>
            <a:off x="6731000" y="2006600"/>
            <a:ext cx="1016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US" altLang="zh-TW" sz="2400" b="1">
                <a:solidFill>
                  <a:srgbClr val="EF4444"/>
                </a:solidFill>
                <a:latin typeface="Consolas" panose="020B0609020204030204" pitchFamily="49" charset="0"/>
              </a:rPr>
              <a:t>20</a:t>
            </a:r>
            <a:endParaRPr lang="zh-TW" altLang="en-US" sz="2400" b="1">
              <a:solidFill>
                <a:srgbClr val="EF4444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AD90F53-88D2-8325-730D-C5FBF90CE904}"/>
              </a:ext>
            </a:extLst>
          </p:cNvPr>
          <p:cNvSpPr txBox="1"/>
          <p:nvPr/>
        </p:nvSpPr>
        <p:spPr>
          <a:xfrm>
            <a:off x="6731000" y="2387600"/>
            <a:ext cx="101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US" altLang="zh-TW" sz="900">
                <a:solidFill>
                  <a:srgbClr val="94A3B8"/>
                </a:solidFill>
                <a:latin typeface="Consolas" panose="020B0609020204030204" pitchFamily="49" charset="0"/>
              </a:rPr>
              <a:t>L4 × I5</a:t>
            </a:r>
            <a:endParaRPr lang="zh-TW" altLang="en-US" sz="900">
              <a:solidFill>
                <a:srgbClr val="94A3B8"/>
              </a:solidFill>
              <a:latin typeface="Consolas" panose="020B0609020204030204" pitchFamily="49" charset="0"/>
            </a:endParaRPr>
          </a:p>
        </p:txBody>
      </p: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973D28EE-6675-2CEA-5ED2-2C34CCDCED25}"/>
              </a:ext>
            </a:extLst>
          </p:cNvPr>
          <p:cNvCxnSpPr/>
          <p:nvPr/>
        </p:nvCxnSpPr>
        <p:spPr>
          <a:xfrm>
            <a:off x="609600" y="2717800"/>
            <a:ext cx="7366000" cy="0"/>
          </a:xfrm>
          <a:prstGeom prst="line">
            <a:avLst/>
          </a:prstGeom>
          <a:ln>
            <a:solidFill>
              <a:srgbClr val="263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F5457A61-1E7A-BA58-3BA8-504867E474C3}"/>
              </a:ext>
            </a:extLst>
          </p:cNvPr>
          <p:cNvCxnSpPr/>
          <p:nvPr/>
        </p:nvCxnSpPr>
        <p:spPr>
          <a:xfrm>
            <a:off x="4292600" y="2717800"/>
            <a:ext cx="0" cy="2489200"/>
          </a:xfrm>
          <a:prstGeom prst="line">
            <a:avLst/>
          </a:prstGeom>
          <a:ln>
            <a:solidFill>
              <a:srgbClr val="263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3108DD18-ADE0-05F7-5114-D10E2090FD95}"/>
              </a:ext>
            </a:extLst>
          </p:cNvPr>
          <p:cNvSpPr txBox="1"/>
          <p:nvPr/>
        </p:nvSpPr>
        <p:spPr>
          <a:xfrm>
            <a:off x="838200" y="2895600"/>
            <a:ext cx="3251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zh-TW" altLang="en-US" sz="1100" b="1">
                <a:solidFill>
                  <a:srgbClr val="93C5F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風險識別（若未落實）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876C41C9-58CF-D3BC-192F-52E99B089055}"/>
              </a:ext>
            </a:extLst>
          </p:cNvPr>
          <p:cNvSpPr txBox="1"/>
          <p:nvPr/>
        </p:nvSpPr>
        <p:spPr>
          <a:xfrm>
            <a:off x="838200" y="3200400"/>
            <a:ext cx="3251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zh-TW" altLang="en-US" sz="1100">
                <a:solidFill>
                  <a:srgbClr val="CBD5E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僅靠密碼容易因撞庫、釣魚或弱密碼被盜用，攻擊者以合法身分登入，系統難以分辨。帳號盜用是多數入侵事件的起點。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D567BBD2-3D8C-2F2F-FA6F-25BB29393AB5}"/>
              </a:ext>
            </a:extLst>
          </p:cNvPr>
          <p:cNvSpPr txBox="1"/>
          <p:nvPr/>
        </p:nvSpPr>
        <p:spPr>
          <a:xfrm>
            <a:off x="4495800" y="2895600"/>
            <a:ext cx="3251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zh-TW" altLang="en-US" sz="1100" b="1">
                <a:solidFill>
                  <a:srgbClr val="93C5F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防範建議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F007EC39-3148-5DBB-7039-035B8C3D85BB}"/>
              </a:ext>
            </a:extLst>
          </p:cNvPr>
          <p:cNvSpPr/>
          <p:nvPr/>
        </p:nvSpPr>
        <p:spPr>
          <a:xfrm>
            <a:off x="4495800" y="3175000"/>
            <a:ext cx="3251200" cy="711200"/>
          </a:xfrm>
          <a:prstGeom prst="roundRect">
            <a:avLst>
              <a:gd name="adj" fmla="val 12000"/>
            </a:avLst>
          </a:prstGeom>
          <a:solidFill>
            <a:srgbClr val="0F3B33"/>
          </a:solidFill>
          <a:ln w="127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lstStyle/>
          <a:p>
            <a:r>
              <a:rPr lang="zh-TW" altLang="en-US" sz="900" b="1">
                <a:solidFill>
                  <a:srgbClr val="6EE7B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表列對應防禦</a:t>
            </a:r>
          </a:p>
          <a:p>
            <a:r>
              <a:rPr lang="zh-TW" altLang="en-US" sz="1000">
                <a:solidFill>
                  <a:srgbClr val="A7F3D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導入多因子驗證 </a:t>
            </a:r>
            <a:r>
              <a:rPr lang="en-US" altLang="zh-TW" sz="1000">
                <a:solidFill>
                  <a:srgbClr val="A7F3D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(MFA / TOTP)</a:t>
            </a:r>
            <a:r>
              <a:rPr lang="zh-TW" altLang="en-US" sz="1000">
                <a:solidFill>
                  <a:srgbClr val="A7F3D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，防範憑證盜用與弱密碼風險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A66D0BEF-2AEE-BF1D-DA43-9A6934AE6004}"/>
              </a:ext>
            </a:extLst>
          </p:cNvPr>
          <p:cNvSpPr txBox="1"/>
          <p:nvPr/>
        </p:nvSpPr>
        <p:spPr>
          <a:xfrm>
            <a:off x="4495800" y="4038600"/>
            <a:ext cx="3251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152400" indent="-152400">
              <a:lnSpc>
                <a:spcPct val="110000"/>
              </a:lnSpc>
              <a:spcAft>
                <a:spcPts val="400"/>
              </a:spcAft>
              <a:buFont typeface="+mj-lt"/>
              <a:buChar char="•"/>
            </a:pPr>
            <a:r>
              <a:rPr lang="zh-TW" altLang="en-US" sz="1000">
                <a:solidFill>
                  <a:srgbClr val="CBD5E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搭配登入失敗鎖定與異常登入通知</a:t>
            </a:r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Font typeface="+mj-lt"/>
              <a:buChar char="•"/>
            </a:pPr>
            <a:r>
              <a:rPr lang="zh-TW" altLang="en-US" sz="1000">
                <a:solidFill>
                  <a:srgbClr val="CBD5E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優先採用驗證器 </a:t>
            </a:r>
            <a:r>
              <a:rPr lang="en-US" altLang="zh-TW" sz="1000">
                <a:solidFill>
                  <a:srgbClr val="CBD5E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App </a:t>
            </a:r>
            <a:r>
              <a:rPr lang="zh-TW" altLang="en-US" sz="1000">
                <a:solidFill>
                  <a:srgbClr val="CBD5E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或實體金鑰</a:t>
            </a:r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Font typeface="+mj-lt"/>
              <a:buChar char="•"/>
            </a:pPr>
            <a:r>
              <a:rPr lang="zh-TW" altLang="en-US" sz="1000">
                <a:solidFill>
                  <a:srgbClr val="CBD5E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重設密碼流程同樣需要多因子驗證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D0BE6BC-68EB-7345-7B29-BF543CBCEF25}"/>
              </a:ext>
            </a:extLst>
          </p:cNvPr>
          <p:cNvSpPr/>
          <p:nvPr/>
        </p:nvSpPr>
        <p:spPr>
          <a:xfrm>
            <a:off x="622300" y="5207000"/>
            <a:ext cx="7340600" cy="622300"/>
          </a:xfrm>
          <a:prstGeom prst="rect">
            <a:avLst/>
          </a:prstGeom>
          <a:solidFill>
            <a:srgbClr val="111C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8064D527-545B-0C08-A8F1-FE7F2821B4CB}"/>
              </a:ext>
            </a:extLst>
          </p:cNvPr>
          <p:cNvSpPr/>
          <p:nvPr/>
        </p:nvSpPr>
        <p:spPr>
          <a:xfrm>
            <a:off x="838200" y="5372100"/>
            <a:ext cx="1193800" cy="279400"/>
          </a:xfrm>
          <a:prstGeom prst="roundRect">
            <a:avLst>
              <a:gd name="adj" fmla="val 20000"/>
            </a:avLst>
          </a:prstGeom>
          <a:solidFill>
            <a:srgbClr val="1C2A47"/>
          </a:solidFill>
          <a:ln w="12700">
            <a:solidFill>
              <a:srgbClr val="2637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lstStyle/>
          <a:p>
            <a:pPr algn="ctr"/>
            <a:r>
              <a:rPr lang="en-US" altLang="zh-TW" sz="900">
                <a:solidFill>
                  <a:srgbClr val="94A3B8"/>
                </a:solidFill>
                <a:latin typeface="Consolas" panose="020B0609020204030204" pitchFamily="49" charset="0"/>
              </a:rPr>
              <a:t>Authenticity</a:t>
            </a:r>
            <a:endParaRPr lang="zh-TW" altLang="en-US" sz="900">
              <a:solidFill>
                <a:srgbClr val="94A3B8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3D9CABC7-1D24-E24E-0E65-62BF22FEB23F}"/>
              </a:ext>
            </a:extLst>
          </p:cNvPr>
          <p:cNvSpPr/>
          <p:nvPr/>
        </p:nvSpPr>
        <p:spPr>
          <a:xfrm>
            <a:off x="2133600" y="5372100"/>
            <a:ext cx="781050" cy="279400"/>
          </a:xfrm>
          <a:prstGeom prst="roundRect">
            <a:avLst>
              <a:gd name="adj" fmla="val 20000"/>
            </a:avLst>
          </a:prstGeom>
          <a:solidFill>
            <a:srgbClr val="1C2A47"/>
          </a:solidFill>
          <a:ln w="12700">
            <a:solidFill>
              <a:srgbClr val="2637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lstStyle/>
          <a:p>
            <a:pPr algn="ctr"/>
            <a:r>
              <a:rPr lang="en-US" altLang="zh-TW" sz="900">
                <a:solidFill>
                  <a:srgbClr val="94A3B8"/>
                </a:solidFill>
                <a:latin typeface="Consolas" panose="020B0609020204030204" pitchFamily="49" charset="0"/>
              </a:rPr>
              <a:t>2FA/MFA</a:t>
            </a:r>
            <a:endParaRPr lang="zh-TW" altLang="en-US" sz="900">
              <a:solidFill>
                <a:srgbClr val="94A3B8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2B0EC0DA-6930-813D-41B0-39807AE3F0AC}"/>
              </a:ext>
            </a:extLst>
          </p:cNvPr>
          <p:cNvSpPr/>
          <p:nvPr/>
        </p:nvSpPr>
        <p:spPr>
          <a:xfrm>
            <a:off x="3016250" y="5372100"/>
            <a:ext cx="450850" cy="279400"/>
          </a:xfrm>
          <a:prstGeom prst="roundRect">
            <a:avLst>
              <a:gd name="adj" fmla="val 20000"/>
            </a:avLst>
          </a:prstGeom>
          <a:solidFill>
            <a:srgbClr val="1C2A47"/>
          </a:solidFill>
          <a:ln w="12700">
            <a:solidFill>
              <a:srgbClr val="2637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lstStyle/>
          <a:p>
            <a:pPr algn="ctr"/>
            <a:r>
              <a:rPr lang="en-US" altLang="zh-TW" sz="900">
                <a:solidFill>
                  <a:srgbClr val="94A3B8"/>
                </a:solidFill>
                <a:latin typeface="Consolas" panose="020B0609020204030204" pitchFamily="49" charset="0"/>
              </a:rPr>
              <a:t>OTP</a:t>
            </a:r>
            <a:endParaRPr lang="zh-TW" altLang="en-US" sz="900">
              <a:solidFill>
                <a:srgbClr val="94A3B8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5B66457E-7303-DD0F-46BB-00AB236231F4}"/>
              </a:ext>
            </a:extLst>
          </p:cNvPr>
          <p:cNvSpPr txBox="1"/>
          <p:nvPr/>
        </p:nvSpPr>
        <p:spPr>
          <a:xfrm>
            <a:off x="5715000" y="5422900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0000"/>
              </a:lnSpc>
            </a:pPr>
            <a:r>
              <a:rPr lang="zh-TW" altLang="en-US" sz="1000">
                <a:solidFill>
                  <a:srgbClr val="94A3B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資安核心概念 第</a:t>
            </a:r>
            <a:r>
              <a:rPr lang="en-US" altLang="zh-TW" sz="1000">
                <a:solidFill>
                  <a:srgbClr val="94A3B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16</a:t>
            </a:r>
            <a:r>
              <a:rPr lang="zh-TW" altLang="en-US" sz="1000">
                <a:solidFill>
                  <a:srgbClr val="94A3B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頁</a:t>
            </a:r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16E2771E-8CD7-6721-A985-1F28934941A9}"/>
              </a:ext>
            </a:extLst>
          </p:cNvPr>
          <p:cNvSpPr/>
          <p:nvPr/>
        </p:nvSpPr>
        <p:spPr>
          <a:xfrm>
            <a:off x="1397000" y="1701800"/>
            <a:ext cx="228600" cy="228600"/>
          </a:xfrm>
          <a:prstGeom prst="ellipse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TW" sz="900" b="1">
                <a:solidFill>
                  <a:srgbClr val="FFFFFF"/>
                </a:solidFill>
                <a:latin typeface="Consolas" panose="020B0609020204030204" pitchFamily="49" charset="0"/>
              </a:rPr>
              <a:t>1</a:t>
            </a:r>
            <a:endParaRPr lang="zh-TW" altLang="en-US" sz="900" b="1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C7DFE93D-B288-B2D1-1FE3-92B7F1D7620D}"/>
              </a:ext>
            </a:extLst>
          </p:cNvPr>
          <p:cNvSpPr/>
          <p:nvPr/>
        </p:nvSpPr>
        <p:spPr>
          <a:xfrm>
            <a:off x="1397000" y="2260600"/>
            <a:ext cx="228600" cy="228600"/>
          </a:xfrm>
          <a:prstGeom prst="ellipse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TW" sz="900" b="1">
                <a:solidFill>
                  <a:srgbClr val="FFFFFF"/>
                </a:solidFill>
                <a:latin typeface="Consolas" panose="020B0609020204030204" pitchFamily="49" charset="0"/>
              </a:rPr>
              <a:t>2</a:t>
            </a:r>
            <a:endParaRPr lang="zh-TW" altLang="en-US" sz="900" b="1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199E2A77-661A-7AFC-FE02-210507323429}"/>
              </a:ext>
            </a:extLst>
          </p:cNvPr>
          <p:cNvSpPr/>
          <p:nvPr/>
        </p:nvSpPr>
        <p:spPr>
          <a:xfrm>
            <a:off x="7620000" y="1574800"/>
            <a:ext cx="228600" cy="228600"/>
          </a:xfrm>
          <a:prstGeom prst="ellipse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TW" sz="900" b="1">
                <a:solidFill>
                  <a:srgbClr val="FFFFFF"/>
                </a:solidFill>
                <a:latin typeface="Consolas" panose="020B0609020204030204" pitchFamily="49" charset="0"/>
              </a:rPr>
              <a:t>3</a:t>
            </a:r>
            <a:endParaRPr lang="zh-TW" altLang="en-US" sz="900" b="1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B2AA359C-CEC1-2401-4AEF-323D169F199E}"/>
              </a:ext>
            </a:extLst>
          </p:cNvPr>
          <p:cNvSpPr/>
          <p:nvPr/>
        </p:nvSpPr>
        <p:spPr>
          <a:xfrm>
            <a:off x="7569200" y="3073400"/>
            <a:ext cx="228600" cy="228600"/>
          </a:xfrm>
          <a:prstGeom prst="ellipse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TW" sz="900" b="1">
                <a:solidFill>
                  <a:srgbClr val="FFFFFF"/>
                </a:solidFill>
                <a:latin typeface="Consolas" panose="020B0609020204030204" pitchFamily="49" charset="0"/>
              </a:rPr>
              <a:t>4</a:t>
            </a:r>
            <a:endParaRPr lang="zh-TW" altLang="en-US" sz="900" b="1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346BA2B8-60C9-A205-D777-DBADB8EDF6E7}"/>
              </a:ext>
            </a:extLst>
          </p:cNvPr>
          <p:cNvSpPr/>
          <p:nvPr/>
        </p:nvSpPr>
        <p:spPr>
          <a:xfrm>
            <a:off x="7569200" y="3962400"/>
            <a:ext cx="228600" cy="228600"/>
          </a:xfrm>
          <a:prstGeom prst="ellipse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TW" sz="900" b="1">
                <a:solidFill>
                  <a:srgbClr val="FFFFFF"/>
                </a:solidFill>
                <a:latin typeface="Consolas" panose="020B0609020204030204" pitchFamily="49" charset="0"/>
              </a:rPr>
              <a:t>5</a:t>
            </a:r>
            <a:endParaRPr lang="zh-TW" altLang="en-US" sz="900" b="1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FE3CA28C-9744-F56F-0775-E7EE76C35287}"/>
              </a:ext>
            </a:extLst>
          </p:cNvPr>
          <p:cNvSpPr/>
          <p:nvPr/>
        </p:nvSpPr>
        <p:spPr>
          <a:xfrm>
            <a:off x="508000" y="5105400"/>
            <a:ext cx="228600" cy="228600"/>
          </a:xfrm>
          <a:prstGeom prst="ellipse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TW" sz="900" b="1">
                <a:solidFill>
                  <a:srgbClr val="FFFFFF"/>
                </a:solidFill>
                <a:latin typeface="Consolas" panose="020B0609020204030204" pitchFamily="49" charset="0"/>
              </a:rPr>
              <a:t>6</a:t>
            </a:r>
            <a:endParaRPr lang="zh-TW" altLang="en-US" sz="900" b="1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橢圓 28">
            <a:extLst>
              <a:ext uri="{FF2B5EF4-FFF2-40B4-BE49-F238E27FC236}">
                <a16:creationId xmlns:a16="http://schemas.microsoft.com/office/drawing/2014/main" id="{A1C22ED3-267B-D853-3F5C-49855AB312EB}"/>
              </a:ext>
            </a:extLst>
          </p:cNvPr>
          <p:cNvSpPr/>
          <p:nvPr/>
        </p:nvSpPr>
        <p:spPr>
          <a:xfrm>
            <a:off x="8280400" y="1524000"/>
            <a:ext cx="304800" cy="304800"/>
          </a:xfrm>
          <a:prstGeom prst="ellipse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TW" sz="1100" b="1">
                <a:solidFill>
                  <a:srgbClr val="FFFFFF"/>
                </a:solidFill>
                <a:latin typeface="Consolas" panose="020B0609020204030204" pitchFamily="49" charset="0"/>
              </a:rPr>
              <a:t>1</a:t>
            </a:r>
            <a:endParaRPr lang="zh-TW" altLang="en-US" sz="1100" b="1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E2E67E9D-1501-CEF0-9FF0-EF1EF8155003}"/>
              </a:ext>
            </a:extLst>
          </p:cNvPr>
          <p:cNvSpPr txBox="1"/>
          <p:nvPr/>
        </p:nvSpPr>
        <p:spPr>
          <a:xfrm>
            <a:off x="8737600" y="14986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zh-TW" altLang="en-US" sz="1400" b="1">
                <a:solidFill>
                  <a:srgbClr val="E2E8F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情境原文</a:t>
            </a:r>
          </a:p>
          <a:p>
            <a:pPr>
              <a:lnSpc>
                <a:spcPct val="110000"/>
              </a:lnSpc>
            </a:pPr>
            <a:r>
              <a:rPr lang="zh-TW" altLang="en-US" sz="1100">
                <a:solidFill>
                  <a:srgbClr val="94A3B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直接引用對應表，不改寫</a:t>
            </a:r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D8450438-C3D3-DA72-75BC-7A55C70EF643}"/>
              </a:ext>
            </a:extLst>
          </p:cNvPr>
          <p:cNvSpPr/>
          <p:nvPr/>
        </p:nvSpPr>
        <p:spPr>
          <a:xfrm>
            <a:off x="8280400" y="2336800"/>
            <a:ext cx="304800" cy="304800"/>
          </a:xfrm>
          <a:prstGeom prst="ellipse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TW" sz="1100" b="1">
                <a:solidFill>
                  <a:srgbClr val="FFFFFF"/>
                </a:solidFill>
                <a:latin typeface="Consolas" panose="020B0609020204030204" pitchFamily="49" charset="0"/>
              </a:rPr>
              <a:t>2</a:t>
            </a:r>
            <a:endParaRPr lang="zh-TW" altLang="en-US" sz="1100" b="1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BD351613-F03F-47AB-9B97-697647CFE7D2}"/>
              </a:ext>
            </a:extLst>
          </p:cNvPr>
          <p:cNvSpPr txBox="1"/>
          <p:nvPr/>
        </p:nvSpPr>
        <p:spPr>
          <a:xfrm>
            <a:off x="8737600" y="23114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zh-TW" altLang="en-US" sz="1400" b="1">
                <a:solidFill>
                  <a:srgbClr val="E2E8F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識別結果</a:t>
            </a:r>
          </a:p>
          <a:p>
            <a:pPr>
              <a:lnSpc>
                <a:spcPct val="110000"/>
              </a:lnSpc>
            </a:pPr>
            <a:r>
              <a:rPr lang="zh-TW" altLang="en-US" sz="1100">
                <a:solidFill>
                  <a:srgbClr val="94A3B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協定／威脅／</a:t>
            </a:r>
            <a:r>
              <a:rPr lang="en-US" altLang="zh-TW" sz="1100">
                <a:solidFill>
                  <a:srgbClr val="94A3B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SSDLC </a:t>
            </a:r>
            <a:r>
              <a:rPr lang="zh-TW" altLang="en-US" sz="1100">
                <a:solidFill>
                  <a:srgbClr val="94A3B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要求／管控面向</a:t>
            </a:r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57945F31-5E7C-268D-7EF1-8A49FDF4DA53}"/>
              </a:ext>
            </a:extLst>
          </p:cNvPr>
          <p:cNvSpPr/>
          <p:nvPr/>
        </p:nvSpPr>
        <p:spPr>
          <a:xfrm>
            <a:off x="8280400" y="3149600"/>
            <a:ext cx="304800" cy="304800"/>
          </a:xfrm>
          <a:prstGeom prst="ellipse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TW" sz="1100" b="1">
                <a:solidFill>
                  <a:srgbClr val="FFFFFF"/>
                </a:solidFill>
                <a:latin typeface="Consolas" panose="020B0609020204030204" pitchFamily="49" charset="0"/>
              </a:rPr>
              <a:t>3</a:t>
            </a:r>
            <a:endParaRPr lang="zh-TW" altLang="en-US" sz="1100" b="1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2A34FF55-A941-B53B-CD66-2F497EFB83E6}"/>
              </a:ext>
            </a:extLst>
          </p:cNvPr>
          <p:cNvSpPr txBox="1"/>
          <p:nvPr/>
        </p:nvSpPr>
        <p:spPr>
          <a:xfrm>
            <a:off x="8737600" y="31242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zh-TW" altLang="en-US" sz="1400" b="1">
                <a:solidFill>
                  <a:srgbClr val="E2E8F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風險分數</a:t>
            </a:r>
          </a:p>
          <a:p>
            <a:pPr>
              <a:lnSpc>
                <a:spcPct val="110000"/>
              </a:lnSpc>
            </a:pPr>
            <a:r>
              <a:rPr lang="zh-TW" altLang="en-US" sz="1100">
                <a:solidFill>
                  <a:srgbClr val="94A3B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可能性 </a:t>
            </a:r>
            <a:r>
              <a:rPr lang="en-US" altLang="zh-TW" sz="1100">
                <a:solidFill>
                  <a:srgbClr val="94A3B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× </a:t>
            </a:r>
            <a:r>
              <a:rPr lang="zh-TW" altLang="en-US" sz="1100">
                <a:solidFill>
                  <a:srgbClr val="94A3B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衝擊，等級一眼可見</a:t>
            </a:r>
          </a:p>
        </p:txBody>
      </p:sp>
      <p:sp>
        <p:nvSpPr>
          <p:cNvPr id="35" name="橢圓 34">
            <a:extLst>
              <a:ext uri="{FF2B5EF4-FFF2-40B4-BE49-F238E27FC236}">
                <a16:creationId xmlns:a16="http://schemas.microsoft.com/office/drawing/2014/main" id="{2B900BEB-9D9E-07D6-0A7A-2E76976C701C}"/>
              </a:ext>
            </a:extLst>
          </p:cNvPr>
          <p:cNvSpPr/>
          <p:nvPr/>
        </p:nvSpPr>
        <p:spPr>
          <a:xfrm>
            <a:off x="8280400" y="3962400"/>
            <a:ext cx="304800" cy="304800"/>
          </a:xfrm>
          <a:prstGeom prst="ellipse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TW" sz="1100" b="1">
                <a:solidFill>
                  <a:srgbClr val="FFFFFF"/>
                </a:solidFill>
                <a:latin typeface="Consolas" panose="020B0609020204030204" pitchFamily="49" charset="0"/>
              </a:rPr>
              <a:t>4</a:t>
            </a:r>
            <a:endParaRPr lang="zh-TW" altLang="en-US" sz="1100" b="1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3BBBC8FD-1613-5404-AAC3-0D1C9978650B}"/>
              </a:ext>
            </a:extLst>
          </p:cNvPr>
          <p:cNvSpPr txBox="1"/>
          <p:nvPr/>
        </p:nvSpPr>
        <p:spPr>
          <a:xfrm>
            <a:off x="8737600" y="39370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zh-TW" altLang="en-US" sz="1400" b="1">
                <a:solidFill>
                  <a:srgbClr val="E2E8F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表列防禦</a:t>
            </a:r>
          </a:p>
          <a:p>
            <a:pPr>
              <a:lnSpc>
                <a:spcPct val="110000"/>
              </a:lnSpc>
            </a:pPr>
            <a:r>
              <a:rPr lang="zh-TW" altLang="en-US" sz="1100">
                <a:solidFill>
                  <a:srgbClr val="94A3B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綠框＝原表內容，可對回資料</a:t>
            </a:r>
          </a:p>
        </p:txBody>
      </p:sp>
      <p:sp>
        <p:nvSpPr>
          <p:cNvPr id="37" name="橢圓 36">
            <a:extLst>
              <a:ext uri="{FF2B5EF4-FFF2-40B4-BE49-F238E27FC236}">
                <a16:creationId xmlns:a16="http://schemas.microsoft.com/office/drawing/2014/main" id="{969D852B-AEA8-CDD8-FB36-86F19BC39B35}"/>
              </a:ext>
            </a:extLst>
          </p:cNvPr>
          <p:cNvSpPr/>
          <p:nvPr/>
        </p:nvSpPr>
        <p:spPr>
          <a:xfrm>
            <a:off x="8280400" y="4775200"/>
            <a:ext cx="304800" cy="304800"/>
          </a:xfrm>
          <a:prstGeom prst="ellipse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TW" sz="1100" b="1">
                <a:solidFill>
                  <a:srgbClr val="FFFFFF"/>
                </a:solidFill>
                <a:latin typeface="Consolas" panose="020B0609020204030204" pitchFamily="49" charset="0"/>
              </a:rPr>
              <a:t>5</a:t>
            </a:r>
            <a:endParaRPr lang="zh-TW" altLang="en-US" sz="1100" b="1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449C126A-A254-48E2-784F-3C430AA43444}"/>
              </a:ext>
            </a:extLst>
          </p:cNvPr>
          <p:cNvSpPr txBox="1"/>
          <p:nvPr/>
        </p:nvSpPr>
        <p:spPr>
          <a:xfrm>
            <a:off x="8737600" y="47498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zh-TW" altLang="en-US" sz="1400" b="1">
                <a:solidFill>
                  <a:srgbClr val="E2E8F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補充建議</a:t>
            </a:r>
          </a:p>
          <a:p>
            <a:pPr>
              <a:lnSpc>
                <a:spcPct val="110000"/>
              </a:lnSpc>
            </a:pPr>
            <a:r>
              <a:rPr lang="zh-TW" altLang="en-US" sz="1100">
                <a:solidFill>
                  <a:srgbClr val="94A3B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延伸的專家做法，與原表分開</a:t>
            </a: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C1114CAC-F7CA-0577-1A16-A5022FE59659}"/>
              </a:ext>
            </a:extLst>
          </p:cNvPr>
          <p:cNvSpPr/>
          <p:nvPr/>
        </p:nvSpPr>
        <p:spPr>
          <a:xfrm>
            <a:off x="8280400" y="5588000"/>
            <a:ext cx="304800" cy="304800"/>
          </a:xfrm>
          <a:prstGeom prst="ellipse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TW" sz="1100" b="1">
                <a:solidFill>
                  <a:srgbClr val="FFFFFF"/>
                </a:solidFill>
                <a:latin typeface="Consolas" panose="020B0609020204030204" pitchFamily="49" charset="0"/>
              </a:rPr>
              <a:t>6</a:t>
            </a:r>
            <a:endParaRPr lang="zh-TW" altLang="en-US" sz="1100" b="1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9AF475CC-CDC2-B271-0220-2CA6157E11CA}"/>
              </a:ext>
            </a:extLst>
          </p:cNvPr>
          <p:cNvSpPr txBox="1"/>
          <p:nvPr/>
        </p:nvSpPr>
        <p:spPr>
          <a:xfrm>
            <a:off x="8737600" y="55626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zh-TW" altLang="en-US" sz="1400" b="1">
                <a:solidFill>
                  <a:srgbClr val="E2E8F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關鍵字＋教材頁碼</a:t>
            </a:r>
          </a:p>
          <a:p>
            <a:pPr>
              <a:lnSpc>
                <a:spcPct val="110000"/>
              </a:lnSpc>
            </a:pPr>
            <a:r>
              <a:rPr lang="zh-TW" altLang="en-US" sz="1100">
                <a:solidFill>
                  <a:srgbClr val="94A3B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可對回課程簡報</a:t>
            </a:r>
          </a:p>
        </p:txBody>
      </p:sp>
    </p:spTree>
    <p:extLst>
      <p:ext uri="{BB962C8B-B14F-4D97-AF65-F5344CB8AC3E}">
        <p14:creationId xmlns:p14="http://schemas.microsoft.com/office/powerpoint/2010/main" val="29963766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06F97F7E-A10B-F398-83D4-D474EE30F84D}"/>
              </a:ext>
            </a:extLst>
          </p:cNvPr>
          <p:cNvSpPr txBox="1"/>
          <p:nvPr/>
        </p:nvSpPr>
        <p:spPr>
          <a:xfrm>
            <a:off x="609600" y="4064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zh-TW" sz="1100" b="1" spc="200">
                <a:solidFill>
                  <a:srgbClr val="93C5F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PRINCIPLE 6 / 6</a:t>
            </a:r>
            <a:endParaRPr lang="zh-TW" altLang="en-US" sz="1100" b="1" spc="200">
              <a:solidFill>
                <a:srgbClr val="93C5FD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8EB3DA5-D3DA-CC39-AA09-B6127A8B8425}"/>
              </a:ext>
            </a:extLst>
          </p:cNvPr>
          <p:cNvSpPr txBox="1"/>
          <p:nvPr/>
        </p:nvSpPr>
        <p:spPr>
          <a:xfrm>
            <a:off x="609600" y="685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zh-TW" altLang="en-US" sz="2800" b="1">
                <a:solidFill>
                  <a:srgbClr val="E2E8F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從發現到行動：三階段改善路線</a:t>
            </a:r>
          </a:p>
        </p:txBody>
      </p:sp>
      <p:sp>
        <p:nvSpPr>
          <p:cNvPr id="4" name="箭號: 五邊形 3">
            <a:extLst>
              <a:ext uri="{FF2B5EF4-FFF2-40B4-BE49-F238E27FC236}">
                <a16:creationId xmlns:a16="http://schemas.microsoft.com/office/drawing/2014/main" id="{C4DC8A05-62B4-0BBF-78F0-63296EBB98A0}"/>
              </a:ext>
            </a:extLst>
          </p:cNvPr>
          <p:cNvSpPr/>
          <p:nvPr/>
        </p:nvSpPr>
        <p:spPr>
          <a:xfrm>
            <a:off x="609600" y="1574800"/>
            <a:ext cx="3810000" cy="660400"/>
          </a:xfrm>
          <a:prstGeom prst="homePlate">
            <a:avLst/>
          </a:prstGeom>
          <a:solidFill>
            <a:srgbClr val="EF44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zh-TW" altLang="en-US" sz="1400" b="1">
                <a:solidFill>
                  <a:srgbClr val="0B122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立即｜</a:t>
            </a:r>
            <a:r>
              <a:rPr lang="en-US" altLang="zh-TW" sz="1400" b="1">
                <a:solidFill>
                  <a:srgbClr val="0B122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0–1 </a:t>
            </a:r>
            <a:r>
              <a:rPr lang="zh-TW" altLang="en-US" sz="1400" b="1">
                <a:solidFill>
                  <a:srgbClr val="0B122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個月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3A2BE779-933D-D3D0-4CF6-9E47D4795218}"/>
              </a:ext>
            </a:extLst>
          </p:cNvPr>
          <p:cNvSpPr/>
          <p:nvPr/>
        </p:nvSpPr>
        <p:spPr>
          <a:xfrm>
            <a:off x="609600" y="2413000"/>
            <a:ext cx="3505200" cy="2540000"/>
          </a:xfrm>
          <a:prstGeom prst="roundRect">
            <a:avLst>
              <a:gd name="adj" fmla="val 6000"/>
            </a:avLst>
          </a:prstGeom>
          <a:solidFill>
            <a:srgbClr val="16213A"/>
          </a:solidFill>
          <a:ln w="12700">
            <a:solidFill>
              <a:srgbClr val="2637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ADD9EBE-1E65-4681-D0D0-AEE855E768F7}"/>
              </a:ext>
            </a:extLst>
          </p:cNvPr>
          <p:cNvSpPr txBox="1"/>
          <p:nvPr/>
        </p:nvSpPr>
        <p:spPr>
          <a:xfrm>
            <a:off x="838200" y="26162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zh-TW" altLang="en-US" sz="1500" b="1">
                <a:solidFill>
                  <a:srgbClr val="E2E8F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止血：關閉高曝險入口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B94CFD7-2971-734E-6DF5-3C53CFCD703D}"/>
              </a:ext>
            </a:extLst>
          </p:cNvPr>
          <p:cNvSpPr txBox="1"/>
          <p:nvPr/>
        </p:nvSpPr>
        <p:spPr>
          <a:xfrm>
            <a:off x="838200" y="30734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177800" indent="-177800">
              <a:lnSpc>
                <a:spcPct val="110000"/>
              </a:lnSpc>
              <a:spcAft>
                <a:spcPts val="900"/>
              </a:spcAft>
              <a:buFont typeface="+mj-lt"/>
              <a:buChar char="•"/>
            </a:pPr>
            <a:r>
              <a:rPr lang="en-US" altLang="zh-TW" sz="1200">
                <a:solidFill>
                  <a:srgbClr val="CBD5E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RDP 3389</a:t>
            </a:r>
            <a:r>
              <a:rPr lang="zh-TW" altLang="en-US" sz="1200">
                <a:solidFill>
                  <a:srgbClr val="CBD5E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</a:t>
            </a:r>
            <a:r>
              <a:rPr lang="en-US" altLang="zh-TW" sz="1200">
                <a:solidFill>
                  <a:srgbClr val="CBD5E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SQL 1433 </a:t>
            </a:r>
            <a:r>
              <a:rPr lang="zh-TW" altLang="en-US" sz="1200">
                <a:solidFill>
                  <a:srgbClr val="CBD5E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停止對外開放</a:t>
            </a:r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Font typeface="+mj-lt"/>
              <a:buChar char="•"/>
            </a:pPr>
            <a:r>
              <a:rPr lang="zh-TW" altLang="en-US" sz="1200">
                <a:solidFill>
                  <a:srgbClr val="CBD5E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管理者與遠端帳號強制 </a:t>
            </a:r>
            <a:r>
              <a:rPr lang="en-US" altLang="zh-TW" sz="1200">
                <a:solidFill>
                  <a:srgbClr val="CBD5E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MFA</a:t>
            </a:r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Font typeface="+mj-lt"/>
              <a:buChar char="•"/>
            </a:pPr>
            <a:r>
              <a:rPr lang="zh-TW" altLang="en-US" sz="1200">
                <a:solidFill>
                  <a:srgbClr val="CBD5E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匯款與帳戶變更一律電話確認</a:t>
            </a:r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Font typeface="+mj-lt"/>
              <a:buChar char="•"/>
            </a:pPr>
            <a:r>
              <a:rPr lang="zh-TW" altLang="en-US" sz="1200">
                <a:solidFill>
                  <a:srgbClr val="CBD5E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禁用盜版軟體，部署 </a:t>
            </a:r>
            <a:r>
              <a:rPr lang="en-US" altLang="zh-TW" sz="1200">
                <a:solidFill>
                  <a:srgbClr val="CBD5E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EDR</a:t>
            </a:r>
            <a:endParaRPr lang="zh-TW" altLang="en-US" sz="1200">
              <a:solidFill>
                <a:srgbClr val="CBD5E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8" name="箭號: ＞形 7">
            <a:extLst>
              <a:ext uri="{FF2B5EF4-FFF2-40B4-BE49-F238E27FC236}">
                <a16:creationId xmlns:a16="http://schemas.microsoft.com/office/drawing/2014/main" id="{4E0B670C-5354-7413-6DDA-588553D37EE2}"/>
              </a:ext>
            </a:extLst>
          </p:cNvPr>
          <p:cNvSpPr/>
          <p:nvPr/>
        </p:nvSpPr>
        <p:spPr>
          <a:xfrm>
            <a:off x="4318000" y="1574800"/>
            <a:ext cx="3810000" cy="660400"/>
          </a:xfrm>
          <a:prstGeom prst="chevron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zh-TW" altLang="en-US" sz="1400" b="1">
                <a:solidFill>
                  <a:srgbClr val="0B122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短期｜</a:t>
            </a:r>
            <a:r>
              <a:rPr lang="en-US" altLang="zh-TW" sz="1400" b="1">
                <a:solidFill>
                  <a:srgbClr val="0B122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1–3 </a:t>
            </a:r>
            <a:r>
              <a:rPr lang="zh-TW" altLang="en-US" sz="1400" b="1">
                <a:solidFill>
                  <a:srgbClr val="0B122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個月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AE68E625-E1AD-BBCD-313F-ABD49DEA43D3}"/>
              </a:ext>
            </a:extLst>
          </p:cNvPr>
          <p:cNvSpPr/>
          <p:nvPr/>
        </p:nvSpPr>
        <p:spPr>
          <a:xfrm>
            <a:off x="4318000" y="2413000"/>
            <a:ext cx="3505200" cy="2540000"/>
          </a:xfrm>
          <a:prstGeom prst="roundRect">
            <a:avLst>
              <a:gd name="adj" fmla="val 6000"/>
            </a:avLst>
          </a:prstGeom>
          <a:solidFill>
            <a:srgbClr val="16213A"/>
          </a:solidFill>
          <a:ln w="12700">
            <a:solidFill>
              <a:srgbClr val="2637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40141338-4607-E282-0B71-2D0C28F7A218}"/>
              </a:ext>
            </a:extLst>
          </p:cNvPr>
          <p:cNvSpPr txBox="1"/>
          <p:nvPr/>
        </p:nvSpPr>
        <p:spPr>
          <a:xfrm>
            <a:off x="4546600" y="26162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zh-TW" altLang="en-US" sz="1500" b="1">
                <a:solidFill>
                  <a:srgbClr val="E2E8F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補強：加密與邊界防護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05ABB2A7-D2F2-AFED-C583-C65CED8A1A11}"/>
              </a:ext>
            </a:extLst>
          </p:cNvPr>
          <p:cNvSpPr txBox="1"/>
          <p:nvPr/>
        </p:nvSpPr>
        <p:spPr>
          <a:xfrm>
            <a:off x="4546600" y="30734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177800" indent="-177800">
              <a:lnSpc>
                <a:spcPct val="110000"/>
              </a:lnSpc>
              <a:spcAft>
                <a:spcPts val="900"/>
              </a:spcAft>
              <a:buFont typeface="+mj-lt"/>
              <a:buChar char="•"/>
            </a:pPr>
            <a:r>
              <a:rPr lang="zh-TW" altLang="en-US" sz="1200">
                <a:solidFill>
                  <a:srgbClr val="CBD5E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全站 </a:t>
            </a:r>
            <a:r>
              <a:rPr lang="en-US" altLang="zh-TW" sz="1200">
                <a:solidFill>
                  <a:srgbClr val="CBD5E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HTTPS</a:t>
            </a:r>
            <a:r>
              <a:rPr lang="zh-TW" altLang="en-US" sz="1200">
                <a:solidFill>
                  <a:srgbClr val="CBD5E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，郵件與 </a:t>
            </a:r>
            <a:r>
              <a:rPr lang="en-US" altLang="zh-TW" sz="1200">
                <a:solidFill>
                  <a:srgbClr val="CBD5E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FTP </a:t>
            </a:r>
            <a:r>
              <a:rPr lang="zh-TW" altLang="en-US" sz="1200">
                <a:solidFill>
                  <a:srgbClr val="CBD5E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改加密版本</a:t>
            </a:r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Font typeface="+mj-lt"/>
              <a:buChar char="•"/>
            </a:pPr>
            <a:r>
              <a:rPr lang="zh-TW" altLang="en-US" sz="1200">
                <a:solidFill>
                  <a:srgbClr val="CBD5E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部署 </a:t>
            </a:r>
            <a:r>
              <a:rPr lang="en-US" altLang="zh-TW" sz="1200">
                <a:solidFill>
                  <a:srgbClr val="CBD5E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WAF</a:t>
            </a:r>
            <a:r>
              <a:rPr lang="zh-TW" altLang="en-US" sz="1200">
                <a:solidFill>
                  <a:srgbClr val="CBD5E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、防火牆與 </a:t>
            </a:r>
            <a:r>
              <a:rPr lang="en-US" altLang="zh-TW" sz="1200">
                <a:solidFill>
                  <a:srgbClr val="CBD5E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IDS/IPS</a:t>
            </a:r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Font typeface="+mj-lt"/>
              <a:buChar char="•"/>
            </a:pPr>
            <a:r>
              <a:rPr lang="zh-TW" altLang="en-US" sz="1200">
                <a:solidFill>
                  <a:srgbClr val="CBD5E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導入 </a:t>
            </a:r>
            <a:r>
              <a:rPr lang="en-US" altLang="zh-TW" sz="1200">
                <a:solidFill>
                  <a:srgbClr val="CBD5E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DDoS </a:t>
            </a:r>
            <a:r>
              <a:rPr lang="zh-TW" altLang="en-US" sz="1200">
                <a:solidFill>
                  <a:srgbClr val="CBD5E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清洗服務</a:t>
            </a:r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Font typeface="+mj-lt"/>
              <a:buChar char="•"/>
            </a:pPr>
            <a:r>
              <a:rPr lang="zh-TW" altLang="en-US" sz="1200">
                <a:solidFill>
                  <a:srgbClr val="CBD5E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敏感資料 </a:t>
            </a:r>
            <a:r>
              <a:rPr lang="en-US" altLang="zh-TW" sz="1200">
                <a:solidFill>
                  <a:srgbClr val="CBD5E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AES-256 </a:t>
            </a:r>
            <a:r>
              <a:rPr lang="zh-TW" altLang="en-US" sz="1200">
                <a:solidFill>
                  <a:srgbClr val="CBD5E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靜態加密</a:t>
            </a:r>
          </a:p>
        </p:txBody>
      </p:sp>
      <p:sp>
        <p:nvSpPr>
          <p:cNvPr id="12" name="箭號: ＞形 11">
            <a:extLst>
              <a:ext uri="{FF2B5EF4-FFF2-40B4-BE49-F238E27FC236}">
                <a16:creationId xmlns:a16="http://schemas.microsoft.com/office/drawing/2014/main" id="{C26B9347-E4AD-CA97-BBF1-5943B956E988}"/>
              </a:ext>
            </a:extLst>
          </p:cNvPr>
          <p:cNvSpPr/>
          <p:nvPr/>
        </p:nvSpPr>
        <p:spPr>
          <a:xfrm>
            <a:off x="8026400" y="1574800"/>
            <a:ext cx="3810000" cy="660400"/>
          </a:xfrm>
          <a:prstGeom prst="chevron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zh-TW" altLang="en-US" sz="1400" b="1">
                <a:solidFill>
                  <a:srgbClr val="0B122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中期｜</a:t>
            </a:r>
            <a:r>
              <a:rPr lang="en-US" altLang="zh-TW" sz="1400" b="1">
                <a:solidFill>
                  <a:srgbClr val="0B122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3–6 </a:t>
            </a:r>
            <a:r>
              <a:rPr lang="zh-TW" altLang="en-US" sz="1400" b="1">
                <a:solidFill>
                  <a:srgbClr val="0B122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個月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DE667CAD-6EF4-4C7A-571F-EF111F98A62E}"/>
              </a:ext>
            </a:extLst>
          </p:cNvPr>
          <p:cNvSpPr/>
          <p:nvPr/>
        </p:nvSpPr>
        <p:spPr>
          <a:xfrm>
            <a:off x="8026400" y="2413000"/>
            <a:ext cx="3505200" cy="2540000"/>
          </a:xfrm>
          <a:prstGeom prst="roundRect">
            <a:avLst>
              <a:gd name="adj" fmla="val 6000"/>
            </a:avLst>
          </a:prstGeom>
          <a:solidFill>
            <a:srgbClr val="16213A"/>
          </a:solidFill>
          <a:ln w="12700">
            <a:solidFill>
              <a:srgbClr val="2637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132BC09E-3971-49B8-7E8D-1F4C95595FE0}"/>
              </a:ext>
            </a:extLst>
          </p:cNvPr>
          <p:cNvSpPr txBox="1"/>
          <p:nvPr/>
        </p:nvSpPr>
        <p:spPr>
          <a:xfrm>
            <a:off x="8255000" y="26162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zh-TW" altLang="en-US" sz="1500" b="1">
                <a:solidFill>
                  <a:srgbClr val="E2E8F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制度化：管理與持續運作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1A5A4BB4-28A0-933F-43E6-8AAC17F83973}"/>
              </a:ext>
            </a:extLst>
          </p:cNvPr>
          <p:cNvSpPr txBox="1"/>
          <p:nvPr/>
        </p:nvSpPr>
        <p:spPr>
          <a:xfrm>
            <a:off x="8255000" y="30734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177800" indent="-177800">
              <a:lnSpc>
                <a:spcPct val="110000"/>
              </a:lnSpc>
              <a:spcAft>
                <a:spcPts val="900"/>
              </a:spcAft>
              <a:buFont typeface="+mj-lt"/>
              <a:buChar char="•"/>
            </a:pPr>
            <a:r>
              <a:rPr lang="zh-TW" altLang="en-US" sz="1200">
                <a:solidFill>
                  <a:srgbClr val="CBD5E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成立資安應變小組，依風險分配預算</a:t>
            </a:r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Font typeface="+mj-lt"/>
              <a:buChar char="•"/>
            </a:pPr>
            <a:r>
              <a:rPr lang="zh-TW" altLang="en-US" sz="1200">
                <a:solidFill>
                  <a:srgbClr val="CBD5E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制定 </a:t>
            </a:r>
            <a:r>
              <a:rPr lang="en-US" altLang="zh-TW" sz="1200">
                <a:solidFill>
                  <a:srgbClr val="CBD5E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BCM</a:t>
            </a:r>
            <a:r>
              <a:rPr lang="zh-TW" altLang="en-US" sz="1200">
                <a:solidFill>
                  <a:srgbClr val="CBD5E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／</a:t>
            </a:r>
            <a:r>
              <a:rPr lang="en-US" altLang="zh-TW" sz="1200">
                <a:solidFill>
                  <a:srgbClr val="CBD5E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DR </a:t>
            </a:r>
            <a:r>
              <a:rPr lang="zh-TW" altLang="en-US" sz="1200">
                <a:solidFill>
                  <a:srgbClr val="CBD5E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並實際演練</a:t>
            </a:r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Font typeface="+mj-lt"/>
              <a:buChar char="•"/>
            </a:pPr>
            <a:r>
              <a:rPr lang="zh-TW" altLang="en-US" sz="1200">
                <a:solidFill>
                  <a:srgbClr val="CBD5E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權限盤點與不可竄改稽核日誌</a:t>
            </a:r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Font typeface="+mj-lt"/>
              <a:buChar char="•"/>
            </a:pPr>
            <a:r>
              <a:rPr lang="zh-TW" altLang="en-US" sz="1200">
                <a:solidFill>
                  <a:srgbClr val="CBD5E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廠商風險評估與定期社交工程演練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28CE0EC9-F1F5-8C66-7EA0-323AF3737628}"/>
              </a:ext>
            </a:extLst>
          </p:cNvPr>
          <p:cNvSpPr txBox="1"/>
          <p:nvPr/>
        </p:nvSpPr>
        <p:spPr>
          <a:xfrm>
            <a:off x="609600" y="52324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zh-TW" altLang="en-US" sz="1500">
                <a:solidFill>
                  <a:srgbClr val="93C5F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「報告的終點是行動清單，不只是風險清單。」</a:t>
            </a:r>
          </a:p>
        </p:txBody>
      </p:sp>
    </p:spTree>
    <p:extLst>
      <p:ext uri="{BB962C8B-B14F-4D97-AF65-F5344CB8AC3E}">
        <p14:creationId xmlns:p14="http://schemas.microsoft.com/office/powerpoint/2010/main" val="16083038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C5A874CC-7B06-77E9-6C38-95B2B5120A81}"/>
              </a:ext>
            </a:extLst>
          </p:cNvPr>
          <p:cNvSpPr txBox="1"/>
          <p:nvPr/>
        </p:nvSpPr>
        <p:spPr>
          <a:xfrm>
            <a:off x="609600" y="4064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zh-TW" sz="1100" b="1" spc="200">
                <a:solidFill>
                  <a:srgbClr val="93C5F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KEY FINDINGS</a:t>
            </a:r>
            <a:endParaRPr lang="zh-TW" altLang="en-US" sz="1100" b="1" spc="200">
              <a:solidFill>
                <a:srgbClr val="93C5FD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C672BBC-5C1D-DBAC-ABEF-99C7EFC778B0}"/>
              </a:ext>
            </a:extLst>
          </p:cNvPr>
          <p:cNvSpPr txBox="1"/>
          <p:nvPr/>
        </p:nvSpPr>
        <p:spPr>
          <a:xfrm>
            <a:off x="609600" y="685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zh-TW" altLang="en-US" sz="2800" b="1">
                <a:solidFill>
                  <a:srgbClr val="E2E8F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關鍵發現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18AF9CD2-BC85-327D-ECD1-C28032EDF30D}"/>
              </a:ext>
            </a:extLst>
          </p:cNvPr>
          <p:cNvSpPr/>
          <p:nvPr/>
        </p:nvSpPr>
        <p:spPr>
          <a:xfrm>
            <a:off x="609600" y="1574800"/>
            <a:ext cx="5334000" cy="3175000"/>
          </a:xfrm>
          <a:prstGeom prst="roundRect">
            <a:avLst>
              <a:gd name="adj" fmla="val 6000"/>
            </a:avLst>
          </a:prstGeom>
          <a:solidFill>
            <a:srgbClr val="16213A"/>
          </a:solidFill>
          <a:ln w="12700">
            <a:solidFill>
              <a:srgbClr val="2637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7D794F1-5728-EBCB-35B2-9FE1416B931D}"/>
              </a:ext>
            </a:extLst>
          </p:cNvPr>
          <p:cNvSpPr txBox="1"/>
          <p:nvPr/>
        </p:nvSpPr>
        <p:spPr>
          <a:xfrm>
            <a:off x="914400" y="1828800"/>
            <a:ext cx="472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zh-TW" sz="6000" b="1">
                <a:solidFill>
                  <a:srgbClr val="EF4444"/>
                </a:solidFill>
                <a:latin typeface="Consolas" panose="020B0609020204030204" pitchFamily="49" charset="0"/>
              </a:rPr>
              <a:t>18 / 27</a:t>
            </a:r>
            <a:endParaRPr lang="zh-TW" altLang="en-US" sz="6000" b="1">
              <a:solidFill>
                <a:srgbClr val="EF4444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6E2CCA7-971E-5CE4-E121-BC0E8A9E1113}"/>
              </a:ext>
            </a:extLst>
          </p:cNvPr>
          <p:cNvSpPr txBox="1"/>
          <p:nvPr/>
        </p:nvSpPr>
        <p:spPr>
          <a:xfrm>
            <a:off x="914400" y="2870200"/>
            <a:ext cx="472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zh-TW" altLang="en-US" sz="1500" b="1">
                <a:solidFill>
                  <a:srgbClr val="E2E8F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個情境為高風險，約三分之二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FA330D1-D63A-094F-68EE-F1138AAD769D}"/>
              </a:ext>
            </a:extLst>
          </p:cNvPr>
          <p:cNvSpPr/>
          <p:nvPr/>
        </p:nvSpPr>
        <p:spPr>
          <a:xfrm>
            <a:off x="914400" y="3429000"/>
            <a:ext cx="3124200" cy="203200"/>
          </a:xfrm>
          <a:prstGeom prst="rect">
            <a:avLst/>
          </a:prstGeom>
          <a:solidFill>
            <a:srgbClr val="EF44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E93C91D-0EE1-7526-C9A4-D785F8906DE6}"/>
              </a:ext>
            </a:extLst>
          </p:cNvPr>
          <p:cNvSpPr/>
          <p:nvPr/>
        </p:nvSpPr>
        <p:spPr>
          <a:xfrm>
            <a:off x="4064000" y="3429000"/>
            <a:ext cx="1374140" cy="203200"/>
          </a:xfrm>
          <a:prstGeom prst="rect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E9CA514-A3B1-712C-118D-842295D92A5C}"/>
              </a:ext>
            </a:extLst>
          </p:cNvPr>
          <p:cNvSpPr/>
          <p:nvPr/>
        </p:nvSpPr>
        <p:spPr>
          <a:xfrm>
            <a:off x="5463540" y="3429000"/>
            <a:ext cx="149860" cy="203200"/>
          </a:xfrm>
          <a:prstGeom prst="rect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10A875B-0578-22F0-02A7-8B23C2960686}"/>
              </a:ext>
            </a:extLst>
          </p:cNvPr>
          <p:cNvSpPr txBox="1"/>
          <p:nvPr/>
        </p:nvSpPr>
        <p:spPr>
          <a:xfrm>
            <a:off x="914400" y="3759200"/>
            <a:ext cx="472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zh-TW" altLang="en-US" sz="1200">
                <a:solidFill>
                  <a:srgbClr val="94A3B8"/>
                </a:solidFill>
                <a:latin typeface="Consolas" panose="020B0609020204030204" pitchFamily="49" charset="0"/>
              </a:rPr>
              <a:t>高 </a:t>
            </a:r>
            <a:r>
              <a:rPr lang="en-US" altLang="zh-TW" sz="1200">
                <a:solidFill>
                  <a:srgbClr val="94A3B8"/>
                </a:solidFill>
                <a:latin typeface="Consolas" panose="020B0609020204030204" pitchFamily="49" charset="0"/>
              </a:rPr>
              <a:t>18</a:t>
            </a:r>
            <a:r>
              <a:rPr lang="zh-TW" altLang="en-US" sz="1200">
                <a:solidFill>
                  <a:srgbClr val="94A3B8"/>
                </a:solidFill>
                <a:latin typeface="Consolas" panose="020B0609020204030204" pitchFamily="49" charset="0"/>
              </a:rPr>
              <a:t>　中 </a:t>
            </a:r>
            <a:r>
              <a:rPr lang="en-US" altLang="zh-TW" sz="1200">
                <a:solidFill>
                  <a:srgbClr val="94A3B8"/>
                </a:solidFill>
                <a:latin typeface="Consolas" panose="020B0609020204030204" pitchFamily="49" charset="0"/>
              </a:rPr>
              <a:t>8</a:t>
            </a:r>
            <a:r>
              <a:rPr lang="zh-TW" altLang="en-US" sz="1200">
                <a:solidFill>
                  <a:srgbClr val="94A3B8"/>
                </a:solidFill>
                <a:latin typeface="Consolas" panose="020B0609020204030204" pitchFamily="49" charset="0"/>
              </a:rPr>
              <a:t>　低 </a:t>
            </a:r>
            <a:r>
              <a:rPr lang="en-US" altLang="zh-TW" sz="1200">
                <a:solidFill>
                  <a:srgbClr val="94A3B8"/>
                </a:solidFill>
                <a:latin typeface="Consolas" panose="020B0609020204030204" pitchFamily="49" charset="0"/>
              </a:rPr>
              <a:t>1</a:t>
            </a:r>
            <a:endParaRPr lang="zh-TW" altLang="en-US" sz="1200">
              <a:solidFill>
                <a:srgbClr val="94A3B8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62CBB63-BD99-8B5D-42DC-BA3A5D357FE2}"/>
              </a:ext>
            </a:extLst>
          </p:cNvPr>
          <p:cNvSpPr txBox="1"/>
          <p:nvPr/>
        </p:nvSpPr>
        <p:spPr>
          <a:xfrm>
            <a:off x="914400" y="4140200"/>
            <a:ext cx="472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zh-TW" altLang="en-US" sz="1200">
                <a:solidFill>
                  <a:srgbClr val="94A3B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四個主題中，資安威脅平均分數最高（</a:t>
            </a:r>
            <a:r>
              <a:rPr lang="en-US" altLang="zh-TW" sz="1200">
                <a:solidFill>
                  <a:srgbClr val="94A3B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18.2</a:t>
            </a:r>
            <a:r>
              <a:rPr lang="zh-TW" altLang="en-US" sz="1200">
                <a:solidFill>
                  <a:srgbClr val="94A3B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）。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85A0DB3F-53A4-E441-49E4-2E3C70634FA0}"/>
              </a:ext>
            </a:extLst>
          </p:cNvPr>
          <p:cNvSpPr txBox="1"/>
          <p:nvPr/>
        </p:nvSpPr>
        <p:spPr>
          <a:xfrm>
            <a:off x="6350000" y="1574800"/>
            <a:ext cx="5232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zh-TW" altLang="en-US" sz="1500" b="1">
                <a:solidFill>
                  <a:srgbClr val="E2E8F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最高風險 </a:t>
            </a:r>
            <a:r>
              <a:rPr lang="en-US" altLang="zh-TW" sz="1500" b="1">
                <a:solidFill>
                  <a:srgbClr val="E2E8F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25 </a:t>
            </a:r>
            <a:r>
              <a:rPr lang="zh-TW" altLang="en-US" sz="1500" b="1">
                <a:solidFill>
                  <a:srgbClr val="E2E8F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分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95007904-4F0F-FB9C-A840-1B34A89A5471}"/>
              </a:ext>
            </a:extLst>
          </p:cNvPr>
          <p:cNvSpPr/>
          <p:nvPr/>
        </p:nvSpPr>
        <p:spPr>
          <a:xfrm>
            <a:off x="6350000" y="1981200"/>
            <a:ext cx="5232400" cy="1270000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12700">
            <a:solidFill>
              <a:srgbClr val="EF44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7541F156-C86B-2A00-1DA8-4E8706E43DA8}"/>
              </a:ext>
            </a:extLst>
          </p:cNvPr>
          <p:cNvSpPr/>
          <p:nvPr/>
        </p:nvSpPr>
        <p:spPr>
          <a:xfrm>
            <a:off x="6604000" y="2362200"/>
            <a:ext cx="685800" cy="508000"/>
          </a:xfrm>
          <a:prstGeom prst="roundRect">
            <a:avLst>
              <a:gd name="adj" fmla="val 20000"/>
            </a:avLst>
          </a:prstGeom>
          <a:solidFill>
            <a:srgbClr val="3B1620"/>
          </a:solidFill>
          <a:ln w="12700">
            <a:solidFill>
              <a:srgbClr val="EF44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lstStyle/>
          <a:p>
            <a:pPr algn="ctr"/>
            <a:r>
              <a:rPr lang="en-US" altLang="zh-TW" sz="1400" b="1">
                <a:solidFill>
                  <a:srgbClr val="FCA5A5"/>
                </a:solidFill>
                <a:latin typeface="Consolas" panose="020B0609020204030204" pitchFamily="49" charset="0"/>
              </a:rPr>
              <a:t>1-7</a:t>
            </a:r>
            <a:endParaRPr lang="zh-TW" altLang="en-US" sz="1400" b="1">
              <a:solidFill>
                <a:srgbClr val="FCA5A5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880BB83A-DB70-1E78-F36C-7B0ED7492E2D}"/>
              </a:ext>
            </a:extLst>
          </p:cNvPr>
          <p:cNvSpPr txBox="1"/>
          <p:nvPr/>
        </p:nvSpPr>
        <p:spPr>
          <a:xfrm>
            <a:off x="7518400" y="22860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zh-TW" sz="1600" b="1">
                <a:solidFill>
                  <a:srgbClr val="E2E8F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RDP</a:t>
            </a:r>
            <a:r>
              <a:rPr lang="zh-TW" altLang="en-US" sz="1600" b="1">
                <a:solidFill>
                  <a:srgbClr val="E2E8F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（</a:t>
            </a:r>
            <a:r>
              <a:rPr lang="en-US" altLang="zh-TW" sz="1600" b="1">
                <a:solidFill>
                  <a:srgbClr val="E2E8F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Port 3389</a:t>
            </a:r>
            <a:r>
              <a:rPr lang="zh-TW" altLang="en-US" sz="1600" b="1">
                <a:solidFill>
                  <a:srgbClr val="E2E8F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）對外開放</a:t>
            </a:r>
          </a:p>
          <a:p>
            <a:pPr>
              <a:lnSpc>
                <a:spcPct val="110000"/>
              </a:lnSpc>
            </a:pPr>
            <a:r>
              <a:rPr lang="zh-TW" altLang="en-US" sz="1200">
                <a:solidFill>
                  <a:srgbClr val="94A3B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勒索軟體最常見的入侵管道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60CFA2A1-C2F7-FB66-5277-941EA0748DF3}"/>
              </a:ext>
            </a:extLst>
          </p:cNvPr>
          <p:cNvSpPr/>
          <p:nvPr/>
        </p:nvSpPr>
        <p:spPr>
          <a:xfrm>
            <a:off x="6350000" y="3403600"/>
            <a:ext cx="5232400" cy="1270000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12700">
            <a:solidFill>
              <a:srgbClr val="EF44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8724DD56-6835-F5BE-A5A7-FE2BB369E31F}"/>
              </a:ext>
            </a:extLst>
          </p:cNvPr>
          <p:cNvSpPr/>
          <p:nvPr/>
        </p:nvSpPr>
        <p:spPr>
          <a:xfrm>
            <a:off x="6604000" y="3784600"/>
            <a:ext cx="685800" cy="508000"/>
          </a:xfrm>
          <a:prstGeom prst="roundRect">
            <a:avLst>
              <a:gd name="adj" fmla="val 20000"/>
            </a:avLst>
          </a:prstGeom>
          <a:solidFill>
            <a:srgbClr val="3B1620"/>
          </a:solidFill>
          <a:ln w="12700">
            <a:solidFill>
              <a:srgbClr val="EF44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lstStyle/>
          <a:p>
            <a:pPr algn="ctr"/>
            <a:r>
              <a:rPr lang="en-US" altLang="zh-TW" sz="1400" b="1">
                <a:solidFill>
                  <a:srgbClr val="FCA5A5"/>
                </a:solidFill>
                <a:latin typeface="Consolas" panose="020B0609020204030204" pitchFamily="49" charset="0"/>
              </a:rPr>
              <a:t>2-2</a:t>
            </a:r>
            <a:endParaRPr lang="zh-TW" altLang="en-US" sz="1400" b="1">
              <a:solidFill>
                <a:srgbClr val="FCA5A5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0BD0227D-F362-8EE8-16F8-52E274BE490E}"/>
              </a:ext>
            </a:extLst>
          </p:cNvPr>
          <p:cNvSpPr txBox="1"/>
          <p:nvPr/>
        </p:nvSpPr>
        <p:spPr>
          <a:xfrm>
            <a:off x="7518400" y="37084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zh-TW" altLang="en-US" sz="1600" b="1">
                <a:solidFill>
                  <a:srgbClr val="E2E8F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郵件詐騙匯款 </a:t>
            </a:r>
            <a:r>
              <a:rPr lang="en-US" altLang="zh-TW" sz="1600" b="1">
                <a:solidFill>
                  <a:srgbClr val="E2E8F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300 </a:t>
            </a:r>
            <a:r>
              <a:rPr lang="zh-TW" altLang="en-US" sz="1600" b="1">
                <a:solidFill>
                  <a:srgbClr val="E2E8F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萬</a:t>
            </a:r>
          </a:p>
          <a:p>
            <a:pPr>
              <a:lnSpc>
                <a:spcPct val="110000"/>
              </a:lnSpc>
            </a:pPr>
            <a:r>
              <a:rPr lang="zh-TW" altLang="en-US" sz="1200">
                <a:solidFill>
                  <a:srgbClr val="94A3B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已造成實際財務損失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1ABE0D57-A511-F18D-DCC0-392E2B020EFF}"/>
              </a:ext>
            </a:extLst>
          </p:cNvPr>
          <p:cNvSpPr txBox="1"/>
          <p:nvPr/>
        </p:nvSpPr>
        <p:spPr>
          <a:xfrm>
            <a:off x="609600" y="50292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zh-TW" altLang="en-US" sz="1300" b="1">
                <a:solidFill>
                  <a:srgbClr val="94A3B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風險集中在三個面向</a:t>
            </a: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05C5131D-0C71-533B-93B1-46CE674AFD0F}"/>
              </a:ext>
            </a:extLst>
          </p:cNvPr>
          <p:cNvSpPr/>
          <p:nvPr/>
        </p:nvSpPr>
        <p:spPr>
          <a:xfrm>
            <a:off x="609600" y="5384800"/>
            <a:ext cx="3505200" cy="635000"/>
          </a:xfrm>
          <a:prstGeom prst="roundRect">
            <a:avLst>
              <a:gd name="adj" fmla="val 20000"/>
            </a:avLst>
          </a:prstGeom>
          <a:solidFill>
            <a:srgbClr val="1C2A47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lstStyle/>
          <a:p>
            <a:pPr algn="ctr"/>
            <a:r>
              <a:rPr lang="zh-TW" altLang="en-US" sz="1500" b="1">
                <a:solidFill>
                  <a:srgbClr val="E2E8F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傳輸沒加密</a:t>
            </a: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511DA300-68D0-E633-D72D-A5B984953C40}"/>
              </a:ext>
            </a:extLst>
          </p:cNvPr>
          <p:cNvSpPr/>
          <p:nvPr/>
        </p:nvSpPr>
        <p:spPr>
          <a:xfrm>
            <a:off x="4318000" y="5384800"/>
            <a:ext cx="3505200" cy="635000"/>
          </a:xfrm>
          <a:prstGeom prst="roundRect">
            <a:avLst>
              <a:gd name="adj" fmla="val 20000"/>
            </a:avLst>
          </a:prstGeom>
          <a:solidFill>
            <a:srgbClr val="1C2A47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lstStyle/>
          <a:p>
            <a:pPr algn="ctr"/>
            <a:r>
              <a:rPr lang="zh-TW" altLang="en-US" sz="1500" b="1">
                <a:solidFill>
                  <a:srgbClr val="E2E8F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帳號只靠密碼</a:t>
            </a:r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7ABDC1A2-C36C-0AEA-6D34-1BA974D9C801}"/>
              </a:ext>
            </a:extLst>
          </p:cNvPr>
          <p:cNvSpPr/>
          <p:nvPr/>
        </p:nvSpPr>
        <p:spPr>
          <a:xfrm>
            <a:off x="8026400" y="5384800"/>
            <a:ext cx="3505200" cy="635000"/>
          </a:xfrm>
          <a:prstGeom prst="roundRect">
            <a:avLst>
              <a:gd name="adj" fmla="val 20000"/>
            </a:avLst>
          </a:prstGeom>
          <a:solidFill>
            <a:srgbClr val="1C2A47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lstStyle/>
          <a:p>
            <a:pPr algn="ctr"/>
            <a:r>
              <a:rPr lang="zh-TW" altLang="en-US" sz="1500" b="1">
                <a:solidFill>
                  <a:srgbClr val="E2E8F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人員容易被社交工程欺騙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5D7AA453-7D41-0C92-17B7-686123BFA0FC}"/>
              </a:ext>
            </a:extLst>
          </p:cNvPr>
          <p:cNvSpPr txBox="1"/>
          <p:nvPr/>
        </p:nvSpPr>
        <p:spPr>
          <a:xfrm>
            <a:off x="609600" y="61976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zh-TW" altLang="en-US" sz="1200">
                <a:solidFill>
                  <a:srgbClr val="93C5F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已造成實際損失的情境（詐騙匯款、破解包木馬）都源自「人」，光靠技術防護不夠。</a:t>
            </a:r>
          </a:p>
        </p:txBody>
      </p:sp>
    </p:spTree>
    <p:extLst>
      <p:ext uri="{BB962C8B-B14F-4D97-AF65-F5344CB8AC3E}">
        <p14:creationId xmlns:p14="http://schemas.microsoft.com/office/powerpoint/2010/main" val="6091539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06A1112F-2003-1D9D-78B9-92B9965788B9}"/>
              </a:ext>
            </a:extLst>
          </p:cNvPr>
          <p:cNvSpPr txBox="1"/>
          <p:nvPr/>
        </p:nvSpPr>
        <p:spPr>
          <a:xfrm>
            <a:off x="609600" y="4064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zh-TW" sz="1100" b="1" spc="200">
                <a:solidFill>
                  <a:srgbClr val="93C5F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LIVE DEMO</a:t>
            </a:r>
            <a:endParaRPr lang="zh-TW" altLang="en-US" sz="1100" b="1" spc="200">
              <a:solidFill>
                <a:srgbClr val="93C5FD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F275E4E-AE7C-64B3-8990-72AAA6B2EB71}"/>
              </a:ext>
            </a:extLst>
          </p:cNvPr>
          <p:cNvSpPr txBox="1"/>
          <p:nvPr/>
        </p:nvSpPr>
        <p:spPr>
          <a:xfrm>
            <a:off x="609600" y="685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zh-TW" altLang="en-US" sz="2800" b="1">
                <a:solidFill>
                  <a:srgbClr val="E2E8F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現場展示流程</a:t>
            </a:r>
          </a:p>
        </p:txBody>
      </p:sp>
      <p:cxnSp>
        <p:nvCxnSpPr>
          <p:cNvPr id="4" name="直線接點 3">
            <a:extLst>
              <a:ext uri="{FF2B5EF4-FFF2-40B4-BE49-F238E27FC236}">
                <a16:creationId xmlns:a16="http://schemas.microsoft.com/office/drawing/2014/main" id="{00B0DEA3-76C6-0E84-350F-0FDC34120C18}"/>
              </a:ext>
            </a:extLst>
          </p:cNvPr>
          <p:cNvCxnSpPr/>
          <p:nvPr/>
        </p:nvCxnSpPr>
        <p:spPr>
          <a:xfrm>
            <a:off x="1905000" y="2159000"/>
            <a:ext cx="8382000" cy="0"/>
          </a:xfrm>
          <a:prstGeom prst="line">
            <a:avLst/>
          </a:prstGeom>
          <a:ln w="25400">
            <a:solidFill>
              <a:srgbClr val="263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橢圓 4">
            <a:extLst>
              <a:ext uri="{FF2B5EF4-FFF2-40B4-BE49-F238E27FC236}">
                <a16:creationId xmlns:a16="http://schemas.microsoft.com/office/drawing/2014/main" id="{40B4174C-9845-42B0-F970-1CB55FB1022B}"/>
              </a:ext>
            </a:extLst>
          </p:cNvPr>
          <p:cNvSpPr/>
          <p:nvPr/>
        </p:nvSpPr>
        <p:spPr>
          <a:xfrm>
            <a:off x="1574800" y="1828800"/>
            <a:ext cx="660400" cy="660400"/>
          </a:xfrm>
          <a:prstGeom prst="ellipse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TW" sz="2000" b="1">
                <a:solidFill>
                  <a:srgbClr val="FFFFFF"/>
                </a:solidFill>
                <a:latin typeface="Consolas" panose="020B0609020204030204" pitchFamily="49" charset="0"/>
              </a:rPr>
              <a:t>1</a:t>
            </a:r>
            <a:endParaRPr lang="zh-TW" altLang="en-US" sz="2000" b="1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BF8E386-6877-73DF-E758-0212E998D773}"/>
              </a:ext>
            </a:extLst>
          </p:cNvPr>
          <p:cNvSpPr txBox="1"/>
          <p:nvPr/>
        </p:nvSpPr>
        <p:spPr>
          <a:xfrm>
            <a:off x="508000" y="2717800"/>
            <a:ext cx="279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0000"/>
              </a:lnSpc>
            </a:pPr>
            <a:r>
              <a:rPr lang="zh-TW" altLang="en-US" sz="1600" b="1">
                <a:solidFill>
                  <a:srgbClr val="E2E8F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看 </a:t>
            </a:r>
            <a:r>
              <a:rPr lang="en-US" altLang="zh-TW" sz="1600" b="1">
                <a:solidFill>
                  <a:srgbClr val="E2E8F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KPI</a:t>
            </a:r>
          </a:p>
          <a:p>
            <a:pPr algn="ctr">
              <a:lnSpc>
                <a:spcPct val="110000"/>
              </a:lnSpc>
            </a:pPr>
            <a:r>
              <a:rPr lang="en-US" altLang="zh-TW" sz="1200">
                <a:solidFill>
                  <a:srgbClr val="94A3B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18 </a:t>
            </a:r>
            <a:r>
              <a:rPr lang="zh-TW" altLang="en-US" sz="1200">
                <a:solidFill>
                  <a:srgbClr val="94A3B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個高風險，一眼掌握全貌</a:t>
            </a: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393EFD90-EECE-ADFC-BB13-46B577902346}"/>
              </a:ext>
            </a:extLst>
          </p:cNvPr>
          <p:cNvSpPr/>
          <p:nvPr/>
        </p:nvSpPr>
        <p:spPr>
          <a:xfrm>
            <a:off x="4368800" y="1828800"/>
            <a:ext cx="660400" cy="660400"/>
          </a:xfrm>
          <a:prstGeom prst="ellipse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TW" sz="2000" b="1">
                <a:solidFill>
                  <a:srgbClr val="FFFFFF"/>
                </a:solidFill>
                <a:latin typeface="Consolas" panose="020B0609020204030204" pitchFamily="49" charset="0"/>
              </a:rPr>
              <a:t>2</a:t>
            </a:r>
            <a:endParaRPr lang="zh-TW" altLang="en-US" sz="2000" b="1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11ADCDB-D8C2-EF82-6DE9-D05686082FF1}"/>
              </a:ext>
            </a:extLst>
          </p:cNvPr>
          <p:cNvSpPr txBox="1"/>
          <p:nvPr/>
        </p:nvSpPr>
        <p:spPr>
          <a:xfrm>
            <a:off x="3302000" y="2717800"/>
            <a:ext cx="279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0000"/>
              </a:lnSpc>
            </a:pPr>
            <a:r>
              <a:rPr lang="zh-TW" altLang="en-US" sz="1600" b="1">
                <a:solidFill>
                  <a:srgbClr val="E2E8F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點風險矩陣 </a:t>
            </a:r>
            <a:r>
              <a:rPr lang="en-US" altLang="zh-TW" sz="1600" b="1">
                <a:solidFill>
                  <a:srgbClr val="E2E8F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2-2</a:t>
            </a:r>
          </a:p>
          <a:p>
            <a:pPr algn="ctr">
              <a:lnSpc>
                <a:spcPct val="110000"/>
              </a:lnSpc>
            </a:pPr>
            <a:r>
              <a:rPr lang="zh-TW" altLang="en-US" sz="1200">
                <a:solidFill>
                  <a:srgbClr val="94A3B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跳到卡片，展示仿冒郵件</a:t>
            </a: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A46C859F-F80D-D89A-E609-7C4FB9C059BB}"/>
              </a:ext>
            </a:extLst>
          </p:cNvPr>
          <p:cNvSpPr/>
          <p:nvPr/>
        </p:nvSpPr>
        <p:spPr>
          <a:xfrm>
            <a:off x="7162800" y="1828800"/>
            <a:ext cx="660400" cy="660400"/>
          </a:xfrm>
          <a:prstGeom prst="ellipse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TW" sz="2000" b="1">
                <a:solidFill>
                  <a:srgbClr val="FFFFFF"/>
                </a:solidFill>
                <a:latin typeface="Consolas" panose="020B0609020204030204" pitchFamily="49" charset="0"/>
              </a:rPr>
              <a:t>3</a:t>
            </a:r>
            <a:endParaRPr lang="zh-TW" altLang="en-US" sz="2000" b="1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2C2C17F-B552-3324-A0EF-07C87BB4E9EA}"/>
              </a:ext>
            </a:extLst>
          </p:cNvPr>
          <p:cNvSpPr txBox="1"/>
          <p:nvPr/>
        </p:nvSpPr>
        <p:spPr>
          <a:xfrm>
            <a:off x="6096000" y="2717800"/>
            <a:ext cx="279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0000"/>
              </a:lnSpc>
            </a:pPr>
            <a:r>
              <a:rPr lang="zh-TW" altLang="en-US" sz="1600" b="1">
                <a:solidFill>
                  <a:srgbClr val="E2E8F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篩選與搜尋</a:t>
            </a:r>
          </a:p>
          <a:p>
            <a:pPr algn="ctr">
              <a:lnSpc>
                <a:spcPct val="110000"/>
              </a:lnSpc>
            </a:pPr>
            <a:r>
              <a:rPr lang="zh-TW" altLang="en-US" sz="1200">
                <a:solidFill>
                  <a:srgbClr val="94A3B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篩選「高」，或搜尋「</a:t>
            </a:r>
            <a:r>
              <a:rPr lang="en-US" altLang="zh-TW" sz="1200">
                <a:solidFill>
                  <a:srgbClr val="94A3B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MFA</a:t>
            </a:r>
            <a:r>
              <a:rPr lang="zh-TW" altLang="en-US" sz="1200">
                <a:solidFill>
                  <a:srgbClr val="94A3B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」</a:t>
            </a: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38EA501D-7EC1-DA52-1C85-110F05EB831B}"/>
              </a:ext>
            </a:extLst>
          </p:cNvPr>
          <p:cNvSpPr/>
          <p:nvPr/>
        </p:nvSpPr>
        <p:spPr>
          <a:xfrm>
            <a:off x="9956800" y="1828800"/>
            <a:ext cx="660400" cy="660400"/>
          </a:xfrm>
          <a:prstGeom prst="ellipse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TW" sz="2000" b="1">
                <a:solidFill>
                  <a:srgbClr val="FFFFFF"/>
                </a:solidFill>
                <a:latin typeface="Consolas" panose="020B0609020204030204" pitchFamily="49" charset="0"/>
              </a:rPr>
              <a:t>4</a:t>
            </a:r>
            <a:endParaRPr lang="zh-TW" altLang="en-US" sz="2000" b="1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8D830177-8AE3-40E9-5506-C7AAF849CCA5}"/>
              </a:ext>
            </a:extLst>
          </p:cNvPr>
          <p:cNvSpPr txBox="1"/>
          <p:nvPr/>
        </p:nvSpPr>
        <p:spPr>
          <a:xfrm>
            <a:off x="8890000" y="2717800"/>
            <a:ext cx="279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0000"/>
              </a:lnSpc>
            </a:pPr>
            <a:r>
              <a:rPr lang="zh-TW" altLang="en-US" sz="1600" b="1">
                <a:solidFill>
                  <a:srgbClr val="E2E8F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看路線圖</a:t>
            </a:r>
          </a:p>
          <a:p>
            <a:pPr algn="ctr">
              <a:lnSpc>
                <a:spcPct val="110000"/>
              </a:lnSpc>
            </a:pPr>
            <a:r>
              <a:rPr lang="zh-TW" altLang="en-US" sz="1200">
                <a:solidFill>
                  <a:srgbClr val="94A3B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三階段改善優先順序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CE3966FF-64F1-09F9-F928-CE6BB0248B7F}"/>
              </a:ext>
            </a:extLst>
          </p:cNvPr>
          <p:cNvSpPr/>
          <p:nvPr/>
        </p:nvSpPr>
        <p:spPr>
          <a:xfrm>
            <a:off x="609600" y="4038600"/>
            <a:ext cx="10972800" cy="1574800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12700">
            <a:solidFill>
              <a:srgbClr val="2637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407227A3-3E9C-5EA7-3C01-7C0B1252AB90}"/>
              </a:ext>
            </a:extLst>
          </p:cNvPr>
          <p:cNvSpPr txBox="1"/>
          <p:nvPr/>
        </p:nvSpPr>
        <p:spPr>
          <a:xfrm>
            <a:off x="914400" y="4267200"/>
            <a:ext cx="10363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zh-TW" altLang="en-US" sz="1200" b="1">
                <a:solidFill>
                  <a:srgbClr val="93C5F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線上網址（</a:t>
            </a:r>
            <a:r>
              <a:rPr lang="en-US" altLang="zh-TW" sz="1200" b="1">
                <a:solidFill>
                  <a:srgbClr val="93C5F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GitHub Pages</a:t>
            </a:r>
            <a:r>
              <a:rPr lang="zh-TW" altLang="en-US" sz="1200" b="1">
                <a:solidFill>
                  <a:srgbClr val="93C5F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）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7E406F5E-CEDE-57DA-A84D-437E7908F3AE}"/>
              </a:ext>
            </a:extLst>
          </p:cNvPr>
          <p:cNvSpPr txBox="1"/>
          <p:nvPr/>
        </p:nvSpPr>
        <p:spPr>
          <a:xfrm>
            <a:off x="914400" y="4572000"/>
            <a:ext cx="10363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zh-TW" sz="1300">
                <a:solidFill>
                  <a:srgbClr val="E2E8F0"/>
                </a:solidFill>
                <a:latin typeface="Consolas" panose="020B0609020204030204" pitchFamily="49" charset="0"/>
              </a:rPr>
              <a:t>https://ykk860413-oss.github.io/0930wikiteamwork-Information-security/</a:t>
            </a:r>
            <a:r>
              <a:rPr lang="zh-TW" altLang="en-US" sz="1300">
                <a:solidFill>
                  <a:srgbClr val="E2E8F0"/>
                </a:solidFill>
                <a:latin typeface="Consolas" panose="020B0609020204030204" pitchFamily="49" charset="0"/>
              </a:rPr>
              <a:t>資安情境風險分析報告</a:t>
            </a:r>
            <a:r>
              <a:rPr lang="en-US" altLang="zh-TW" sz="1300">
                <a:solidFill>
                  <a:srgbClr val="E2E8F0"/>
                </a:solidFill>
                <a:latin typeface="Consolas" panose="020B0609020204030204" pitchFamily="49" charset="0"/>
              </a:rPr>
              <a:t>.html</a:t>
            </a:r>
            <a:endParaRPr lang="zh-TW" altLang="en-US" sz="1300">
              <a:solidFill>
                <a:srgbClr val="E2E8F0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8C289131-6B1E-D04D-B4E5-9F873A3B7FCF}"/>
              </a:ext>
            </a:extLst>
          </p:cNvPr>
          <p:cNvSpPr txBox="1"/>
          <p:nvPr/>
        </p:nvSpPr>
        <p:spPr>
          <a:xfrm>
            <a:off x="914400" y="5130800"/>
            <a:ext cx="10363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zh-TW" altLang="en-US" sz="1200">
                <a:solidFill>
                  <a:srgbClr val="94A3B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備案：本機檔案「資安情境風險分析報告</a:t>
            </a:r>
            <a:r>
              <a:rPr lang="en-US" altLang="zh-TW" sz="1200">
                <a:solidFill>
                  <a:srgbClr val="94A3B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.html</a:t>
            </a:r>
            <a:r>
              <a:rPr lang="zh-TW" altLang="en-US" sz="1200">
                <a:solidFill>
                  <a:srgbClr val="94A3B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」，不需網路即可開啟，手機也能瀏覽。</a:t>
            </a:r>
          </a:p>
        </p:txBody>
      </p:sp>
    </p:spTree>
    <p:extLst>
      <p:ext uri="{BB962C8B-B14F-4D97-AF65-F5344CB8AC3E}">
        <p14:creationId xmlns:p14="http://schemas.microsoft.com/office/powerpoint/2010/main" val="3481432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239797AA-C595-930E-A3E0-88305EEE7E51}"/>
              </a:ext>
            </a:extLst>
          </p:cNvPr>
          <p:cNvSpPr txBox="1"/>
          <p:nvPr/>
        </p:nvSpPr>
        <p:spPr>
          <a:xfrm>
            <a:off x="1016000" y="19050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zh-TW" sz="1200" b="1" spc="300">
                <a:solidFill>
                  <a:srgbClr val="93C5F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CONCLUSION</a:t>
            </a:r>
            <a:endParaRPr lang="zh-TW" altLang="en-US" sz="1200" b="1" spc="300">
              <a:solidFill>
                <a:srgbClr val="93C5FD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809798CB-AC4E-42A8-DF44-74296605FAB0}"/>
              </a:ext>
            </a:extLst>
          </p:cNvPr>
          <p:cNvSpPr txBox="1"/>
          <p:nvPr/>
        </p:nvSpPr>
        <p:spPr>
          <a:xfrm>
            <a:off x="1016000" y="22860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zh-TW" altLang="en-US" sz="3800" b="1">
                <a:solidFill>
                  <a:srgbClr val="E2E8F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先關入口、再加密、後制度化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3AF064F4-A5D5-E9CC-B8E9-B679050496D3}"/>
              </a:ext>
            </a:extLst>
          </p:cNvPr>
          <p:cNvSpPr txBox="1"/>
          <p:nvPr/>
        </p:nvSpPr>
        <p:spPr>
          <a:xfrm>
            <a:off x="1016000" y="3175000"/>
            <a:ext cx="10160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zh-TW" altLang="en-US" sz="2000">
                <a:solidFill>
                  <a:srgbClr val="93C5F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人的問題要靠流程和演練，不能只靠工具。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30896F27-047B-43CB-F74C-1CC4450CB1C0}"/>
              </a:ext>
            </a:extLst>
          </p:cNvPr>
          <p:cNvSpPr/>
          <p:nvPr/>
        </p:nvSpPr>
        <p:spPr>
          <a:xfrm>
            <a:off x="1016000" y="4318000"/>
            <a:ext cx="2286000" cy="8128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altLang="zh-TW" sz="2400" b="1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Q &amp; A</a:t>
            </a:r>
            <a:endParaRPr lang="zh-TW" altLang="en-US" sz="2400" b="1">
              <a:solidFill>
                <a:srgbClr val="FFFFFF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0438B5CA-7A78-7C23-F595-6EFDF70CB803}"/>
              </a:ext>
            </a:extLst>
          </p:cNvPr>
          <p:cNvSpPr txBox="1"/>
          <p:nvPr/>
        </p:nvSpPr>
        <p:spPr>
          <a:xfrm>
            <a:off x="3657600" y="4445000"/>
            <a:ext cx="762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ja-JP" altLang="en-US" sz="1600" b="1">
                <a:solidFill>
                  <a:srgbClr val="E2E8F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謝謝聆聽</a:t>
            </a:r>
          </a:p>
          <a:p>
            <a:pPr>
              <a:lnSpc>
                <a:spcPct val="110000"/>
              </a:lnSpc>
            </a:pPr>
            <a:r>
              <a:rPr lang="ja-JP" altLang="en-US" sz="1200">
                <a:solidFill>
                  <a:srgbClr val="94A3B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資安情境演練專題・</a:t>
            </a:r>
            <a:r>
              <a:rPr lang="en-US" altLang="ja-JP" sz="1200">
                <a:solidFill>
                  <a:srgbClr val="94A3B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2026-09-30</a:t>
            </a:r>
            <a:endParaRPr lang="zh-TW" altLang="en-US" sz="1200">
              <a:solidFill>
                <a:srgbClr val="94A3B8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247535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1973</Words>
  <Application>Microsoft Office PowerPoint</Application>
  <PresentationFormat>自訂</PresentationFormat>
  <Paragraphs>253</Paragraphs>
  <Slides>11</Slides>
  <Notes>11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7" baseType="lpstr">
      <vt:lpstr>Microsoft JhengHei</vt:lpstr>
      <vt:lpstr>Aptos</vt:lpstr>
      <vt:lpstr>Aptos Display</vt:lpstr>
      <vt:lpstr>Arial</vt:lpstr>
      <vt:lpstr>Consolas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SCE</dc:creator>
  <cp:lastModifiedBy>SCE</cp:lastModifiedBy>
  <cp:revision>1</cp:revision>
  <dcterms:created xsi:type="dcterms:W3CDTF">2026-09-30T08:17:01Z</dcterms:created>
  <dcterms:modified xsi:type="dcterms:W3CDTF">2026-09-30T08:17:01Z</dcterms:modified>
</cp:coreProperties>
</file>